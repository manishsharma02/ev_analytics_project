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and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0D9488">
              <a:alpha val="20000"/>
            </a:srgbClr>
          </a:solidFill>
          <a:ln w="12700">
            <a:solidFill>
              <a:srgbClr val="0D9488">
                <a:alpha val="20000"/>
              </a:srgbClr>
            </a:solidFill>
            <a:prstDash val="solid"/>
          </a:ln>
        </p:spPr>
      </p:sp>
      <p:sp>
        <p:nvSpPr>
          <p:cNvPr id="3" name="Shape 1"/>
          <p:cNvSpPr/>
          <p:nvPr/>
        </p:nvSpPr>
        <p:spPr>
          <a:xfrm>
            <a:off x="-914400" y="3200400"/>
            <a:ext cx="2743200" cy="2743200"/>
          </a:xfrm>
          <a:prstGeom prst="ellipse">
            <a:avLst/>
          </a:prstGeom>
          <a:solidFill>
            <a:srgbClr val="14B8A6">
              <a:alpha val="15000"/>
            </a:srgbClr>
          </a:solidFill>
          <a:ln w="12700">
            <a:solidFill>
              <a:srgbClr val="14B8A6">
                <a:alpha val="15000"/>
              </a:srgbClr>
            </a:solidFill>
            <a:prstDash val="solid"/>
          </a:ln>
        </p:spPr>
      </p:sp>
      <p:sp>
        <p:nvSpPr>
          <p:cNvPr id="4" name="Text 2"/>
          <p:cNvSpPr/>
          <p:nvPr/>
        </p:nvSpPr>
        <p:spPr>
          <a:xfrm>
            <a:off x="548640" y="822960"/>
            <a:ext cx="8046720" cy="1005840"/>
          </a:xfrm>
          <a:prstGeom prst="rect">
            <a:avLst/>
          </a:prstGeom>
          <a:noFill/>
          <a:ln/>
        </p:spPr>
        <p:txBody>
          <a:bodyPr wrap="square" lIns="0" tIns="0" rIns="0" bIns="0"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EV ANALYTICS</a:t>
            </a:r>
            <a:endParaRPr lang="en-US" sz="4800" dirty="0"/>
          </a:p>
        </p:txBody>
      </p:sp>
      <p:sp>
        <p:nvSpPr>
          <p:cNvPr id="5" name="Text 3"/>
          <p:cNvSpPr/>
          <p:nvPr/>
        </p:nvSpPr>
        <p:spPr>
          <a:xfrm>
            <a:off x="548640" y="1737360"/>
            <a:ext cx="7315200" cy="640080"/>
          </a:xfrm>
          <a:prstGeom prst="rect">
            <a:avLst/>
          </a:prstGeom>
          <a:noFill/>
          <a:ln/>
        </p:spPr>
        <p:txBody>
          <a:bodyPr wrap="square" lIns="0" tIns="0" rIns="0" bIns="0" rtlCol="0" anchor="ctr"/>
          <a:lstStyle/>
          <a:p>
            <a:pPr algn="l" indent="0" marL="0">
              <a:buNone/>
            </a:pPr>
            <a:r>
              <a:rPr lang="en-US" sz="2800" dirty="0">
                <a:solidFill>
                  <a:srgbClr val="14B8A6"/>
                </a:solidFill>
                <a:latin typeface="Calibri" pitchFamily="34" charset="0"/>
                <a:ea typeface="Calibri" pitchFamily="34" charset="-122"/>
                <a:cs typeface="Calibri" pitchFamily="34" charset="-120"/>
              </a:rPr>
              <a:t>using Tableau &amp; Flask</a:t>
            </a:r>
            <a:endParaRPr lang="en-US" sz="2800" dirty="0"/>
          </a:p>
        </p:txBody>
      </p:sp>
      <p:sp>
        <p:nvSpPr>
          <p:cNvPr id="6" name="Text 4"/>
          <p:cNvSpPr/>
          <p:nvPr/>
        </p:nvSpPr>
        <p:spPr>
          <a:xfrm>
            <a:off x="548640" y="2423160"/>
            <a:ext cx="7315200" cy="457200"/>
          </a:xfrm>
          <a:prstGeom prst="rect">
            <a:avLst/>
          </a:prstGeom>
          <a:noFill/>
          <a:ln/>
        </p:spPr>
        <p:txBody>
          <a:bodyPr wrap="square" lIns="0" tIns="0" rIns="0" bIns="0"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Electric Vehicle Data Analysis — India &amp; Global</a:t>
            </a:r>
            <a:endParaRPr lang="en-US" sz="1600" dirty="0"/>
          </a:p>
        </p:txBody>
      </p:sp>
      <p:sp>
        <p:nvSpPr>
          <p:cNvPr id="7" name="Shape 5"/>
          <p:cNvSpPr/>
          <p:nvPr/>
        </p:nvSpPr>
        <p:spPr>
          <a:xfrm>
            <a:off x="548640" y="3108960"/>
            <a:ext cx="8046720" cy="1554480"/>
          </a:xfrm>
          <a:prstGeom prst="roundRect">
            <a:avLst>
              <a:gd name="adj" fmla="val 7059"/>
            </a:avLst>
          </a:prstGeom>
          <a:solidFill>
            <a:srgbClr val="0D9488">
              <a:alpha val="12000"/>
            </a:srgbClr>
          </a:solidFill>
          <a:ln w="12700">
            <a:solidFill>
              <a:srgbClr val="0D9488">
                <a:alpha val="40000"/>
              </a:srgbClr>
            </a:solidFill>
            <a:prstDash val="solid"/>
          </a:ln>
        </p:spPr>
      </p:sp>
      <p:sp>
        <p:nvSpPr>
          <p:cNvPr id="8" name="Text 6"/>
          <p:cNvSpPr/>
          <p:nvPr/>
        </p:nvSpPr>
        <p:spPr>
          <a:xfrm>
            <a:off x="731520" y="3246120"/>
            <a:ext cx="7680960" cy="1188720"/>
          </a:xfrm>
          <a:prstGeom prst="rect">
            <a:avLst/>
          </a:prstGeom>
          <a:noFill/>
          <a:ln/>
        </p:spPr>
        <p:txBody>
          <a:bodyPr wrap="square" rtlCol="0" anchor="ctr"/>
          <a:lstStyle/>
          <a:p>
            <a:pPr algn="ctr" indent="0" marL="0">
              <a:buNone/>
            </a:pPr>
            <a:r>
              <a:rPr lang="en-US" sz="1500" b="1" dirty="0">
                <a:solidFill>
                  <a:srgbClr val="FBBF24"/>
                </a:solidFill>
                <a:latin typeface="Calibri" pitchFamily="34" charset="0"/>
                <a:ea typeface="Calibri" pitchFamily="34" charset="-122"/>
                <a:cs typeface="Calibri" pitchFamily="34" charset="-120"/>
              </a:rPr>
              <a:t>Team ID: SWTID-2026-6056   |   Team Leader: Manish Sharma
</a:t>
            </a:r>
            <a:pPr algn="ctr" indent="0" marL="0">
              <a:buNone/>
            </a:pPr>
            <a:r>
              <a:rPr lang="en-US" sz="1500" dirty="0">
                <a:solidFill>
                  <a:srgbClr val="FFFFFF"/>
                </a:solidFill>
                <a:latin typeface="Calibri" pitchFamily="34" charset="0"/>
                <a:ea typeface="Calibri" pitchFamily="34" charset="-122"/>
                <a:cs typeface="Calibri" pitchFamily="34" charset="-120"/>
              </a:rPr>
              <a:t>Ritik Sharma  •  Mayank Kumar  •  Lucky Yadav  •  Radhika Agarwal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oundRect">
            <a:avLst/>
          </a:prstGeom>
          <a:solidFill>
            <a:srgbClr val="0D1B2A"/>
          </a:solidFill>
          <a:ln w="12700">
            <a:solidFill>
              <a:srgbClr val="0D1B2A"/>
            </a:solidFill>
            <a:prstDash val="solid"/>
          </a:ln>
        </p:spPr>
      </p:sp>
      <p:sp>
        <p:nvSpPr>
          <p:cNvPr id="3" name="Text 1"/>
          <p:cNvSpPr/>
          <p:nvPr/>
        </p:nvSpPr>
        <p:spPr>
          <a:xfrm>
            <a:off x="91440" y="1371600"/>
            <a:ext cx="2743200" cy="914400"/>
          </a:xfrm>
          <a:prstGeom prst="rect">
            <a:avLst/>
          </a:prstGeom>
          <a:noFill/>
          <a:ln/>
        </p:spPr>
        <p:txBody>
          <a:bodyPr wrap="square" lIns="0" tIns="0" rIns="0" bIns="0" rtlCol="0" anchor="ctr"/>
          <a:lstStyle/>
          <a:p>
            <a:pPr algn="ctr" indent="0" marL="0">
              <a:buNone/>
            </a:pPr>
            <a:r>
              <a:rPr lang="en-US" sz="2800" b="1" dirty="0">
                <a:solidFill>
                  <a:srgbClr val="14B8A6"/>
                </a:solidFill>
                <a:latin typeface="Cambria" pitchFamily="34" charset="0"/>
                <a:ea typeface="Cambria" pitchFamily="34" charset="-122"/>
                <a:cs typeface="Cambria" pitchFamily="34" charset="-120"/>
              </a:rPr>
              <a:t>AGENDA</a:t>
            </a:r>
            <a:endParaRPr lang="en-US" sz="2800" dirty="0"/>
          </a:p>
        </p:txBody>
      </p:sp>
      <p:sp>
        <p:nvSpPr>
          <p:cNvPr id="4" name="Text 2"/>
          <p:cNvSpPr/>
          <p:nvPr/>
        </p:nvSpPr>
        <p:spPr>
          <a:xfrm>
            <a:off x="91440" y="2194560"/>
            <a:ext cx="2743200" cy="4572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What we cover today</a:t>
            </a:r>
            <a:endParaRPr lang="en-US" sz="1200" dirty="0"/>
          </a:p>
        </p:txBody>
      </p:sp>
      <p:sp>
        <p:nvSpPr>
          <p:cNvPr id="5" name="Shape 3"/>
          <p:cNvSpPr/>
          <p:nvPr/>
        </p:nvSpPr>
        <p:spPr>
          <a:xfrm>
            <a:off x="3108960" y="32004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200400" y="41148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3703320" y="50292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Problem Statement</a:t>
            </a:r>
            <a:endParaRPr lang="en-US" sz="1300" dirty="0"/>
          </a:p>
        </p:txBody>
      </p:sp>
      <p:sp>
        <p:nvSpPr>
          <p:cNvPr id="8" name="Shape 6"/>
          <p:cNvSpPr/>
          <p:nvPr/>
        </p:nvSpPr>
        <p:spPr>
          <a:xfrm>
            <a:off x="3108960" y="141732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200400" y="150876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02</a:t>
            </a:r>
            <a:endParaRPr lang="en-US" sz="2200" dirty="0"/>
          </a:p>
        </p:txBody>
      </p:sp>
      <p:sp>
        <p:nvSpPr>
          <p:cNvPr id="10" name="Text 8"/>
          <p:cNvSpPr/>
          <p:nvPr/>
        </p:nvSpPr>
        <p:spPr>
          <a:xfrm>
            <a:off x="3703320" y="160020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Dataset &amp; Database</a:t>
            </a:r>
            <a:endParaRPr lang="en-US" sz="1300" dirty="0"/>
          </a:p>
        </p:txBody>
      </p:sp>
      <p:sp>
        <p:nvSpPr>
          <p:cNvPr id="11" name="Shape 9"/>
          <p:cNvSpPr/>
          <p:nvPr/>
        </p:nvSpPr>
        <p:spPr>
          <a:xfrm>
            <a:off x="3108960" y="251460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3200400" y="260604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03</a:t>
            </a:r>
            <a:endParaRPr lang="en-US" sz="2200" dirty="0"/>
          </a:p>
        </p:txBody>
      </p:sp>
      <p:sp>
        <p:nvSpPr>
          <p:cNvPr id="13" name="Text 11"/>
          <p:cNvSpPr/>
          <p:nvPr/>
        </p:nvSpPr>
        <p:spPr>
          <a:xfrm>
            <a:off x="3703320" y="269748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Data Preparation</a:t>
            </a:r>
            <a:endParaRPr lang="en-US" sz="1300" dirty="0"/>
          </a:p>
        </p:txBody>
      </p:sp>
      <p:sp>
        <p:nvSpPr>
          <p:cNvPr id="14" name="Shape 12"/>
          <p:cNvSpPr/>
          <p:nvPr/>
        </p:nvSpPr>
        <p:spPr>
          <a:xfrm>
            <a:off x="3108960" y="361188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3200400" y="370332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04</a:t>
            </a:r>
            <a:endParaRPr lang="en-US" sz="2200" dirty="0"/>
          </a:p>
        </p:txBody>
      </p:sp>
      <p:sp>
        <p:nvSpPr>
          <p:cNvPr id="16" name="Text 14"/>
          <p:cNvSpPr/>
          <p:nvPr/>
        </p:nvSpPr>
        <p:spPr>
          <a:xfrm>
            <a:off x="3703320" y="379476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Tableau Dashboards</a:t>
            </a:r>
            <a:endParaRPr lang="en-US" sz="1300" dirty="0"/>
          </a:p>
        </p:txBody>
      </p:sp>
      <p:sp>
        <p:nvSpPr>
          <p:cNvPr id="17" name="Shape 15"/>
          <p:cNvSpPr/>
          <p:nvPr/>
        </p:nvSpPr>
        <p:spPr>
          <a:xfrm>
            <a:off x="5943600" y="32004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6035040" y="41148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05</a:t>
            </a:r>
            <a:endParaRPr lang="en-US" sz="2200" dirty="0"/>
          </a:p>
        </p:txBody>
      </p:sp>
      <p:sp>
        <p:nvSpPr>
          <p:cNvPr id="19" name="Text 17"/>
          <p:cNvSpPr/>
          <p:nvPr/>
        </p:nvSpPr>
        <p:spPr>
          <a:xfrm>
            <a:off x="6537960" y="50292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Story</a:t>
            </a:r>
            <a:endParaRPr lang="en-US" sz="1300" dirty="0"/>
          </a:p>
        </p:txBody>
      </p:sp>
      <p:sp>
        <p:nvSpPr>
          <p:cNvPr id="20" name="Shape 18"/>
          <p:cNvSpPr/>
          <p:nvPr/>
        </p:nvSpPr>
        <p:spPr>
          <a:xfrm>
            <a:off x="5943600" y="141732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6035040" y="150876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06</a:t>
            </a:r>
            <a:endParaRPr lang="en-US" sz="2200" dirty="0"/>
          </a:p>
        </p:txBody>
      </p:sp>
      <p:sp>
        <p:nvSpPr>
          <p:cNvPr id="22" name="Text 20"/>
          <p:cNvSpPr/>
          <p:nvPr/>
        </p:nvSpPr>
        <p:spPr>
          <a:xfrm>
            <a:off x="6537960" y="160020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Web Integration</a:t>
            </a:r>
            <a:endParaRPr lang="en-US" sz="1300" dirty="0"/>
          </a:p>
        </p:txBody>
      </p:sp>
      <p:sp>
        <p:nvSpPr>
          <p:cNvPr id="23" name="Shape 21"/>
          <p:cNvSpPr/>
          <p:nvPr/>
        </p:nvSpPr>
        <p:spPr>
          <a:xfrm>
            <a:off x="5943600" y="251460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4" name="Text 22"/>
          <p:cNvSpPr/>
          <p:nvPr/>
        </p:nvSpPr>
        <p:spPr>
          <a:xfrm>
            <a:off x="6035040" y="260604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07</a:t>
            </a:r>
            <a:endParaRPr lang="en-US" sz="2200" dirty="0"/>
          </a:p>
        </p:txBody>
      </p:sp>
      <p:sp>
        <p:nvSpPr>
          <p:cNvPr id="25" name="Text 23"/>
          <p:cNvSpPr/>
          <p:nvPr/>
        </p:nvSpPr>
        <p:spPr>
          <a:xfrm>
            <a:off x="6537960" y="269748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Performance Testing</a:t>
            </a:r>
            <a:endParaRPr lang="en-US" sz="1300" dirty="0"/>
          </a:p>
        </p:txBody>
      </p:sp>
      <p:sp>
        <p:nvSpPr>
          <p:cNvPr id="26" name="Shape 24"/>
          <p:cNvSpPr/>
          <p:nvPr/>
        </p:nvSpPr>
        <p:spPr>
          <a:xfrm>
            <a:off x="5943600" y="3611880"/>
            <a:ext cx="265176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7" name="Text 25"/>
          <p:cNvSpPr/>
          <p:nvPr/>
        </p:nvSpPr>
        <p:spPr>
          <a:xfrm>
            <a:off x="6035040" y="3703320"/>
            <a:ext cx="502920" cy="68580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08</a:t>
            </a:r>
            <a:endParaRPr lang="en-US" sz="2200" dirty="0"/>
          </a:p>
        </p:txBody>
      </p:sp>
      <p:sp>
        <p:nvSpPr>
          <p:cNvPr id="28" name="Text 26"/>
          <p:cNvSpPr/>
          <p:nvPr/>
        </p:nvSpPr>
        <p:spPr>
          <a:xfrm>
            <a:off x="6537960" y="3794760"/>
            <a:ext cx="1920240" cy="502920"/>
          </a:xfrm>
          <a:prstGeom prst="rect">
            <a:avLst/>
          </a:prstGeom>
          <a:noFill/>
          <a:ln/>
        </p:spPr>
        <p:txBody>
          <a:bodyPr wrap="square" lIns="0" tIns="0" rIns="0" bIns="0" rtlCol="0" anchor="ctr"/>
          <a:lstStyle/>
          <a:p>
            <a:pPr algn="l" indent="0" marL="0">
              <a:buNone/>
            </a:pPr>
            <a:r>
              <a:rPr lang="en-US" sz="1300" dirty="0">
                <a:solidFill>
                  <a:srgbClr val="0D1B2A"/>
                </a:solidFill>
                <a:latin typeface="Calibri" pitchFamily="34" charset="0"/>
                <a:ea typeface="Calibri" pitchFamily="34" charset="-122"/>
                <a:cs typeface="Calibri" pitchFamily="34" charset="-120"/>
              </a:rPr>
              <a:t>Conclusion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365760" y="137160"/>
            <a:ext cx="8412480" cy="73152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4" name="Text 2"/>
          <p:cNvSpPr/>
          <p:nvPr/>
        </p:nvSpPr>
        <p:spPr>
          <a:xfrm>
            <a:off x="365760" y="1143000"/>
            <a:ext cx="8229600" cy="411480"/>
          </a:xfrm>
          <a:prstGeom prst="rect">
            <a:avLst/>
          </a:prstGeom>
          <a:noFill/>
          <a:ln/>
        </p:spPr>
        <p:txBody>
          <a:bodyPr wrap="square" lIns="0" tIns="0" rIns="0" bIns="0" rtlCol="0" anchor="ctr"/>
          <a:lstStyle/>
          <a:p>
            <a:pPr indent="0" marL="0">
              <a:buNone/>
            </a:pPr>
            <a:r>
              <a:rPr lang="en-US" sz="1800" b="1" dirty="0">
                <a:solidFill>
                  <a:srgbClr val="0D9488"/>
                </a:solidFill>
                <a:latin typeface="Cambria" pitchFamily="34" charset="0"/>
                <a:ea typeface="Cambria" pitchFamily="34" charset="-122"/>
                <a:cs typeface="Cambria" pitchFamily="34" charset="-120"/>
              </a:rPr>
              <a:t>The Challenge</a:t>
            </a:r>
            <a:endParaRPr lang="en-US" sz="1800" dirty="0"/>
          </a:p>
        </p:txBody>
      </p:sp>
      <p:sp>
        <p:nvSpPr>
          <p:cNvPr id="5" name="Text 3"/>
          <p:cNvSpPr/>
          <p:nvPr/>
        </p:nvSpPr>
        <p:spPr>
          <a:xfrm>
            <a:off x="365760" y="1554480"/>
            <a:ext cx="8412480" cy="777240"/>
          </a:xfrm>
          <a:prstGeom prst="rect">
            <a:avLst/>
          </a:prstGeom>
          <a:noFill/>
          <a:ln/>
        </p:spPr>
        <p:txBody>
          <a:bodyPr wrap="square" lIns="0" tIns="0" rIns="0" bIns="0" rtlCol="0" anchor="ctr"/>
          <a:lstStyle/>
          <a:p>
            <a:pPr indent="0" marL="0">
              <a:buNone/>
            </a:pPr>
            <a:r>
              <a:rPr lang="en-US" sz="1400" dirty="0">
                <a:solidFill>
                  <a:srgbClr val="0D1B2A"/>
                </a:solidFill>
                <a:latin typeface="Calibri" pitchFamily="34" charset="0"/>
                <a:ea typeface="Calibri" pitchFamily="34" charset="-122"/>
                <a:cs typeface="Calibri" pitchFamily="34" charset="-120"/>
              </a:rPr>
              <a:t>If someone in India wants to buy an Electric Vehicle, they have to visit multiple websites to compare brands, prices, charging stations, and efficiency. There is no single platform where all EV data is available visually.</a:t>
            </a:r>
            <a:endParaRPr lang="en-US" sz="1400" dirty="0"/>
          </a:p>
        </p:txBody>
      </p:sp>
      <p:sp>
        <p:nvSpPr>
          <p:cNvPr id="6" name="Shape 4"/>
          <p:cNvSpPr/>
          <p:nvPr/>
        </p:nvSpPr>
        <p:spPr>
          <a:xfrm>
            <a:off x="365760" y="2468880"/>
            <a:ext cx="4114800" cy="2286000"/>
          </a:xfrm>
          <a:prstGeom prst="roundRect">
            <a:avLst>
              <a:gd name="adj" fmla="val 4800"/>
            </a:avLst>
          </a:prstGeom>
          <a:solidFill>
            <a:srgbClr val="F8FFFE"/>
          </a:solidFill>
          <a:ln w="12700">
            <a:solidFill>
              <a:srgbClr val="0D9488"/>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02920" y="2606040"/>
            <a:ext cx="3840480" cy="45720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PS-1: EV Buyer (India)</a:t>
            </a:r>
            <a:endParaRPr lang="en-US" sz="1400" dirty="0"/>
          </a:p>
        </p:txBody>
      </p:sp>
      <p:sp>
        <p:nvSpPr>
          <p:cNvPr id="8" name="Text 6"/>
          <p:cNvSpPr/>
          <p:nvPr/>
        </p:nvSpPr>
        <p:spPr>
          <a:xfrm>
            <a:off x="502920" y="3063240"/>
            <a:ext cx="3840480" cy="1463040"/>
          </a:xfrm>
          <a:prstGeom prst="rect">
            <a:avLst/>
          </a:prstGeom>
          <a:noFill/>
          <a:ln/>
        </p:spPr>
        <p:txBody>
          <a:bodyPr wrap="square" lIns="0" tIns="0" rIns="0" bIns="0" rtlCol="0" anchor="ctr"/>
          <a:lstStyle/>
          <a:p>
            <a:pPr indent="0" marL="0">
              <a:buNone/>
            </a:pPr>
            <a:r>
              <a:rPr lang="en-US" sz="1300" dirty="0">
                <a:solidFill>
                  <a:srgbClr val="0D1B2A"/>
                </a:solidFill>
                <a:latin typeface="Calibri" pitchFamily="34" charset="0"/>
                <a:ea typeface="Calibri" pitchFamily="34" charset="-122"/>
                <a:cs typeface="Calibri" pitchFamily="34" charset="-120"/>
              </a:rPr>
              <a:t>Wants to compare brands, prices &amp; charging stations — but data is scattered across multiple websites.</a:t>
            </a:r>
            <a:endParaRPr lang="en-US" sz="1300" dirty="0"/>
          </a:p>
        </p:txBody>
      </p:sp>
      <p:sp>
        <p:nvSpPr>
          <p:cNvPr id="9" name="Shape 7"/>
          <p:cNvSpPr/>
          <p:nvPr/>
        </p:nvSpPr>
        <p:spPr>
          <a:xfrm>
            <a:off x="4754880" y="2468880"/>
            <a:ext cx="4114800" cy="2286000"/>
          </a:xfrm>
          <a:prstGeom prst="roundRect">
            <a:avLst>
              <a:gd name="adj" fmla="val 4800"/>
            </a:avLst>
          </a:prstGeom>
          <a:solidFill>
            <a:srgbClr val="F8FFFE"/>
          </a:solidFill>
          <a:ln w="12700">
            <a:solidFill>
              <a:srgbClr val="059669"/>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4892040" y="2606040"/>
            <a:ext cx="3840480" cy="45720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PS-2: EV Market Analyst</a:t>
            </a:r>
            <a:endParaRPr lang="en-US" sz="1400" dirty="0"/>
          </a:p>
        </p:txBody>
      </p:sp>
      <p:sp>
        <p:nvSpPr>
          <p:cNvPr id="11" name="Text 9"/>
          <p:cNvSpPr/>
          <p:nvPr/>
        </p:nvSpPr>
        <p:spPr>
          <a:xfrm>
            <a:off x="4892040" y="3063240"/>
            <a:ext cx="3840480" cy="1463040"/>
          </a:xfrm>
          <a:prstGeom prst="rect">
            <a:avLst/>
          </a:prstGeom>
          <a:noFill/>
          <a:ln/>
        </p:spPr>
        <p:txBody>
          <a:bodyPr wrap="square" lIns="0" tIns="0" rIns="0" bIns="0" rtlCol="0" anchor="ctr"/>
          <a:lstStyle/>
          <a:p>
            <a:pPr indent="0" marL="0">
              <a:buNone/>
            </a:pPr>
            <a:r>
              <a:rPr lang="en-US" sz="1300" dirty="0">
                <a:solidFill>
                  <a:srgbClr val="0D1B2A"/>
                </a:solidFill>
                <a:latin typeface="Calibri" pitchFamily="34" charset="0"/>
                <a:ea typeface="Calibri" pitchFamily="34" charset="-122"/>
                <a:cs typeface="Calibri" pitchFamily="34" charset="-120"/>
              </a:rPr>
              <a:t>Wants to understand global EV efficiency trends — but raw datasets are hard to interpret without visualization.</a:t>
            </a:r>
            <a:endParaRPr lang="en-US" sz="1300" dirty="0"/>
          </a:p>
        </p:txBody>
      </p:sp>
      <p:sp>
        <p:nvSpPr>
          <p:cNvPr id="12" name="Text 10"/>
          <p:cNvSpPr/>
          <p:nvPr/>
        </p:nvSpPr>
        <p:spPr>
          <a:xfrm>
            <a:off x="365760" y="4663440"/>
            <a:ext cx="8412480" cy="365760"/>
          </a:xfrm>
          <a:prstGeom prst="rect">
            <a:avLst/>
          </a:prstGeom>
          <a:solidFill>
            <a:srgbClr val="0D9488"/>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OUR GOAL: Build ONE centralized platform with interactive dashboards &amp; filters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sp>
      <p:sp>
        <p:nvSpPr>
          <p:cNvPr id="3" name="Text 1"/>
          <p:cNvSpPr/>
          <p:nvPr/>
        </p:nvSpPr>
        <p:spPr>
          <a:xfrm>
            <a:off x="365760" y="137160"/>
            <a:ext cx="8412480" cy="73152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DATASET &amp; DATABASE</a:t>
            </a:r>
            <a:endParaRPr lang="en-US" sz="2800" dirty="0"/>
          </a:p>
        </p:txBody>
      </p:sp>
      <p:sp>
        <p:nvSpPr>
          <p:cNvPr id="4" name="Shape 2"/>
          <p:cNvSpPr/>
          <p:nvPr/>
        </p:nvSpPr>
        <p:spPr>
          <a:xfrm>
            <a:off x="365760" y="1143000"/>
            <a:ext cx="841248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475488" y="1307592"/>
            <a:ext cx="420624" cy="420624"/>
          </a:xfrm>
          <a:prstGeom prst="ellipse">
            <a:avLst/>
          </a:prstGeom>
          <a:solidFill>
            <a:srgbClr val="0D9488"/>
          </a:solidFill>
          <a:ln w="12700">
            <a:solidFill>
              <a:srgbClr val="0D9488"/>
            </a:solidFill>
            <a:prstDash val="solid"/>
          </a:ln>
        </p:spPr>
      </p:sp>
      <p:sp>
        <p:nvSpPr>
          <p:cNvPr id="6" name="Text 4"/>
          <p:cNvSpPr/>
          <p:nvPr/>
        </p:nvSpPr>
        <p:spPr>
          <a:xfrm>
            <a:off x="475488" y="13075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05840" y="1216152"/>
            <a:ext cx="5943600" cy="292608"/>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electric_vehicles_spec_2025.csv</a:t>
            </a:r>
            <a:endParaRPr lang="en-US" sz="1200" dirty="0"/>
          </a:p>
        </p:txBody>
      </p:sp>
      <p:sp>
        <p:nvSpPr>
          <p:cNvPr id="8" name="Text 6"/>
          <p:cNvSpPr/>
          <p:nvPr/>
        </p:nvSpPr>
        <p:spPr>
          <a:xfrm>
            <a:off x="1005840" y="1490472"/>
            <a:ext cx="594360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Global EV specs: brands, speed, battery, range, efficiency</a:t>
            </a:r>
            <a:endParaRPr lang="en-US" sz="1100" dirty="0"/>
          </a:p>
        </p:txBody>
      </p:sp>
      <p:sp>
        <p:nvSpPr>
          <p:cNvPr id="9" name="Shape 7"/>
          <p:cNvSpPr/>
          <p:nvPr/>
        </p:nvSpPr>
        <p:spPr>
          <a:xfrm>
            <a:off x="7132320" y="1307592"/>
            <a:ext cx="1463040" cy="402336"/>
          </a:xfrm>
          <a:prstGeom prst="roundRect">
            <a:avLst>
              <a:gd name="adj" fmla="val 18182"/>
            </a:avLst>
          </a:prstGeom>
          <a:solidFill>
            <a:srgbClr val="14B8A6"/>
          </a:solidFill>
          <a:ln w="12700">
            <a:solidFill>
              <a:srgbClr val="14B8A6"/>
            </a:solidFill>
            <a:prstDash val="solid"/>
          </a:ln>
        </p:spPr>
      </p:sp>
      <p:sp>
        <p:nvSpPr>
          <p:cNvPr id="10" name="Text 8"/>
          <p:cNvSpPr/>
          <p:nvPr/>
        </p:nvSpPr>
        <p:spPr>
          <a:xfrm>
            <a:off x="7132320" y="1307592"/>
            <a:ext cx="1463040" cy="402336"/>
          </a:xfrm>
          <a:prstGeom prst="rect">
            <a:avLst/>
          </a:prstGeom>
          <a:noFill/>
          <a:ln/>
        </p:spPr>
        <p:txBody>
          <a:bodyPr wrap="square" lIns="0" tIns="0" rIns="0" bIns="0" rtlCol="0" anchor="ctr"/>
          <a:lstStyle/>
          <a:p>
            <a:pPr algn="ctr" indent="0" marL="0">
              <a:buNone/>
            </a:pPr>
            <a:r>
              <a:rPr lang="en-US" sz="1100" b="1" dirty="0">
                <a:solidFill>
                  <a:srgbClr val="FFFFFF"/>
                </a:solidFill>
              </a:rPr>
              <a:t>478 rows</a:t>
            </a:r>
            <a:endParaRPr lang="en-US" sz="1100" dirty="0"/>
          </a:p>
        </p:txBody>
      </p:sp>
      <p:sp>
        <p:nvSpPr>
          <p:cNvPr id="11" name="Shape 9"/>
          <p:cNvSpPr/>
          <p:nvPr/>
        </p:nvSpPr>
        <p:spPr>
          <a:xfrm>
            <a:off x="365760" y="2039112"/>
            <a:ext cx="841248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75488" y="2203704"/>
            <a:ext cx="420624" cy="420624"/>
          </a:xfrm>
          <a:prstGeom prst="ellipse">
            <a:avLst/>
          </a:prstGeom>
          <a:solidFill>
            <a:srgbClr val="0D9488"/>
          </a:solidFill>
          <a:ln w="12700">
            <a:solidFill>
              <a:srgbClr val="0D9488"/>
            </a:solidFill>
            <a:prstDash val="solid"/>
          </a:ln>
        </p:spPr>
      </p:sp>
      <p:sp>
        <p:nvSpPr>
          <p:cNvPr id="13" name="Text 11"/>
          <p:cNvSpPr/>
          <p:nvPr/>
        </p:nvSpPr>
        <p:spPr>
          <a:xfrm>
            <a:off x="475488" y="22037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2"/>
          <p:cNvSpPr/>
          <p:nvPr/>
        </p:nvSpPr>
        <p:spPr>
          <a:xfrm>
            <a:off x="1005840" y="2112264"/>
            <a:ext cx="5943600" cy="292608"/>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ev-charging-stations-india.csv</a:t>
            </a:r>
            <a:endParaRPr lang="en-US" sz="1200" dirty="0"/>
          </a:p>
        </p:txBody>
      </p:sp>
      <p:sp>
        <p:nvSpPr>
          <p:cNvPr id="15" name="Text 13"/>
          <p:cNvSpPr/>
          <p:nvPr/>
        </p:nvSpPr>
        <p:spPr>
          <a:xfrm>
            <a:off x="1005840" y="2386584"/>
            <a:ext cx="594360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Charging stations across states and regions of India</a:t>
            </a:r>
            <a:endParaRPr lang="en-US" sz="1100" dirty="0"/>
          </a:p>
        </p:txBody>
      </p:sp>
      <p:sp>
        <p:nvSpPr>
          <p:cNvPr id="16" name="Shape 14"/>
          <p:cNvSpPr/>
          <p:nvPr/>
        </p:nvSpPr>
        <p:spPr>
          <a:xfrm>
            <a:off x="7132320" y="2203704"/>
            <a:ext cx="1463040" cy="402336"/>
          </a:xfrm>
          <a:prstGeom prst="roundRect">
            <a:avLst>
              <a:gd name="adj" fmla="val 18182"/>
            </a:avLst>
          </a:prstGeom>
          <a:solidFill>
            <a:srgbClr val="14B8A6"/>
          </a:solidFill>
          <a:ln w="12700">
            <a:solidFill>
              <a:srgbClr val="14B8A6"/>
            </a:solidFill>
            <a:prstDash val="solid"/>
          </a:ln>
        </p:spPr>
      </p:sp>
      <p:sp>
        <p:nvSpPr>
          <p:cNvPr id="17" name="Text 15"/>
          <p:cNvSpPr/>
          <p:nvPr/>
        </p:nvSpPr>
        <p:spPr>
          <a:xfrm>
            <a:off x="7132320" y="2203704"/>
            <a:ext cx="1463040" cy="402336"/>
          </a:xfrm>
          <a:prstGeom prst="rect">
            <a:avLst/>
          </a:prstGeom>
          <a:noFill/>
          <a:ln/>
        </p:spPr>
        <p:txBody>
          <a:bodyPr wrap="square" lIns="0" tIns="0" rIns="0" bIns="0" rtlCol="0" anchor="ctr"/>
          <a:lstStyle/>
          <a:p>
            <a:pPr algn="ctr" indent="0" marL="0">
              <a:buNone/>
            </a:pPr>
            <a:r>
              <a:rPr lang="en-US" sz="1100" b="1" dirty="0">
                <a:solidFill>
                  <a:srgbClr val="FFFFFF"/>
                </a:solidFill>
              </a:rPr>
              <a:t>1,342 rows</a:t>
            </a:r>
            <a:endParaRPr lang="en-US" sz="1100" dirty="0"/>
          </a:p>
        </p:txBody>
      </p:sp>
      <p:sp>
        <p:nvSpPr>
          <p:cNvPr id="18" name="Shape 16"/>
          <p:cNvSpPr/>
          <p:nvPr/>
        </p:nvSpPr>
        <p:spPr>
          <a:xfrm>
            <a:off x="365760" y="2935224"/>
            <a:ext cx="841248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475488" y="3099816"/>
            <a:ext cx="420624" cy="420624"/>
          </a:xfrm>
          <a:prstGeom prst="ellipse">
            <a:avLst/>
          </a:prstGeom>
          <a:solidFill>
            <a:srgbClr val="0D9488"/>
          </a:solidFill>
          <a:ln w="12700">
            <a:solidFill>
              <a:srgbClr val="0D9488"/>
            </a:solidFill>
            <a:prstDash val="solid"/>
          </a:ln>
        </p:spPr>
      </p:sp>
      <p:sp>
        <p:nvSpPr>
          <p:cNvPr id="20" name="Text 18"/>
          <p:cNvSpPr/>
          <p:nvPr/>
        </p:nvSpPr>
        <p:spPr>
          <a:xfrm>
            <a:off x="475488" y="30998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1005840" y="3008376"/>
            <a:ext cx="5943600" cy="292608"/>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EV_Dataset(1).csv</a:t>
            </a:r>
            <a:endParaRPr lang="en-US" sz="1200" dirty="0"/>
          </a:p>
        </p:txBody>
      </p:sp>
      <p:sp>
        <p:nvSpPr>
          <p:cNvPr id="22" name="Text 20"/>
          <p:cNvSpPr/>
          <p:nvPr/>
        </p:nvSpPr>
        <p:spPr>
          <a:xfrm>
            <a:off x="1005840" y="3282696"/>
            <a:ext cx="594360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India-specific EV sales data — brands and models</a:t>
            </a:r>
            <a:endParaRPr lang="en-US" sz="1100" dirty="0"/>
          </a:p>
        </p:txBody>
      </p:sp>
      <p:sp>
        <p:nvSpPr>
          <p:cNvPr id="23" name="Shape 21"/>
          <p:cNvSpPr/>
          <p:nvPr/>
        </p:nvSpPr>
        <p:spPr>
          <a:xfrm>
            <a:off x="7132320" y="3099816"/>
            <a:ext cx="1463040" cy="402336"/>
          </a:xfrm>
          <a:prstGeom prst="roundRect">
            <a:avLst>
              <a:gd name="adj" fmla="val 18182"/>
            </a:avLst>
          </a:prstGeom>
          <a:solidFill>
            <a:srgbClr val="14B8A6"/>
          </a:solidFill>
          <a:ln w="12700">
            <a:solidFill>
              <a:srgbClr val="14B8A6"/>
            </a:solidFill>
            <a:prstDash val="solid"/>
          </a:ln>
        </p:spPr>
      </p:sp>
      <p:sp>
        <p:nvSpPr>
          <p:cNvPr id="24" name="Text 22"/>
          <p:cNvSpPr/>
          <p:nvPr/>
        </p:nvSpPr>
        <p:spPr>
          <a:xfrm>
            <a:off x="7132320" y="3099816"/>
            <a:ext cx="1463040" cy="402336"/>
          </a:xfrm>
          <a:prstGeom prst="rect">
            <a:avLst/>
          </a:prstGeom>
          <a:noFill/>
          <a:ln/>
        </p:spPr>
        <p:txBody>
          <a:bodyPr wrap="square" lIns="0" tIns="0" rIns="0" bIns="0" rtlCol="0" anchor="ctr"/>
          <a:lstStyle/>
          <a:p>
            <a:pPr algn="ctr" indent="0" marL="0">
              <a:buNone/>
            </a:pPr>
            <a:r>
              <a:rPr lang="en-US" sz="1100" b="1" dirty="0">
                <a:solidFill>
                  <a:srgbClr val="FFFFFF"/>
                </a:solidFill>
              </a:rPr>
              <a:t>5,000 rows</a:t>
            </a:r>
            <a:endParaRPr lang="en-US" sz="1100" dirty="0"/>
          </a:p>
        </p:txBody>
      </p:sp>
      <p:sp>
        <p:nvSpPr>
          <p:cNvPr id="25" name="Shape 23"/>
          <p:cNvSpPr/>
          <p:nvPr/>
        </p:nvSpPr>
        <p:spPr>
          <a:xfrm>
            <a:off x="365760" y="3831336"/>
            <a:ext cx="841248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475488" y="3995928"/>
            <a:ext cx="420624" cy="420624"/>
          </a:xfrm>
          <a:prstGeom prst="ellipse">
            <a:avLst/>
          </a:prstGeom>
          <a:solidFill>
            <a:srgbClr val="0D9488"/>
          </a:solidFill>
          <a:ln w="12700">
            <a:solidFill>
              <a:srgbClr val="0D9488"/>
            </a:solidFill>
            <a:prstDash val="solid"/>
          </a:ln>
        </p:spPr>
      </p:sp>
      <p:sp>
        <p:nvSpPr>
          <p:cNvPr id="27" name="Text 25"/>
          <p:cNvSpPr/>
          <p:nvPr/>
        </p:nvSpPr>
        <p:spPr>
          <a:xfrm>
            <a:off x="475488" y="3995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8" name="Text 26"/>
          <p:cNvSpPr/>
          <p:nvPr/>
        </p:nvSpPr>
        <p:spPr>
          <a:xfrm>
            <a:off x="1005840" y="3904488"/>
            <a:ext cx="5943600" cy="292608"/>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global_ev_market_charging_infrastructure.csv</a:t>
            </a:r>
            <a:endParaRPr lang="en-US" sz="1200" dirty="0"/>
          </a:p>
        </p:txBody>
      </p:sp>
      <p:sp>
        <p:nvSpPr>
          <p:cNvPr id="29" name="Text 27"/>
          <p:cNvSpPr/>
          <p:nvPr/>
        </p:nvSpPr>
        <p:spPr>
          <a:xfrm>
            <a:off x="1005840" y="4178808"/>
            <a:ext cx="594360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Global EV market and charging infrastructure data</a:t>
            </a:r>
            <a:endParaRPr lang="en-US" sz="1100" dirty="0"/>
          </a:p>
        </p:txBody>
      </p:sp>
      <p:sp>
        <p:nvSpPr>
          <p:cNvPr id="30" name="Shape 28"/>
          <p:cNvSpPr/>
          <p:nvPr/>
        </p:nvSpPr>
        <p:spPr>
          <a:xfrm>
            <a:off x="7132320" y="3995928"/>
            <a:ext cx="1463040" cy="402336"/>
          </a:xfrm>
          <a:prstGeom prst="roundRect">
            <a:avLst>
              <a:gd name="adj" fmla="val 18182"/>
            </a:avLst>
          </a:prstGeom>
          <a:solidFill>
            <a:srgbClr val="14B8A6"/>
          </a:solidFill>
          <a:ln w="12700">
            <a:solidFill>
              <a:srgbClr val="14B8A6"/>
            </a:solidFill>
            <a:prstDash val="solid"/>
          </a:ln>
        </p:spPr>
      </p:sp>
      <p:sp>
        <p:nvSpPr>
          <p:cNvPr id="31" name="Text 29"/>
          <p:cNvSpPr/>
          <p:nvPr/>
        </p:nvSpPr>
        <p:spPr>
          <a:xfrm>
            <a:off x="7132320" y="3995928"/>
            <a:ext cx="1463040" cy="402336"/>
          </a:xfrm>
          <a:prstGeom prst="rect">
            <a:avLst/>
          </a:prstGeom>
          <a:noFill/>
          <a:ln/>
        </p:spPr>
        <p:txBody>
          <a:bodyPr wrap="square" lIns="0" tIns="0" rIns="0" bIns="0" rtlCol="0" anchor="ctr"/>
          <a:lstStyle/>
          <a:p>
            <a:pPr algn="ctr" indent="0" marL="0">
              <a:buNone/>
            </a:pPr>
            <a:r>
              <a:rPr lang="en-US" sz="1100" b="1" dirty="0">
                <a:solidFill>
                  <a:srgbClr val="FFFFFF"/>
                </a:solidFill>
              </a:rPr>
              <a:t>96,845 rows</a:t>
            </a:r>
            <a:endParaRPr lang="en-US" sz="1100" dirty="0"/>
          </a:p>
        </p:txBody>
      </p:sp>
      <p:sp>
        <p:nvSpPr>
          <p:cNvPr id="32" name="Shape 30"/>
          <p:cNvSpPr/>
          <p:nvPr/>
        </p:nvSpPr>
        <p:spPr>
          <a:xfrm>
            <a:off x="365760" y="4663440"/>
            <a:ext cx="8412480" cy="384048"/>
          </a:xfrm>
          <a:prstGeom prst="roundRect">
            <a:avLst>
              <a:gd name="adj" fmla="val 19048"/>
            </a:avLst>
          </a:prstGeom>
          <a:solidFill>
            <a:srgbClr val="0D1B2A"/>
          </a:solidFill>
          <a:ln w="12700">
            <a:solidFill>
              <a:srgbClr val="0D1B2A"/>
            </a:solidFill>
            <a:prstDash val="solid"/>
          </a:ln>
        </p:spPr>
      </p:sp>
      <p:sp>
        <p:nvSpPr>
          <p:cNvPr id="33" name="Text 31"/>
          <p:cNvSpPr/>
          <p:nvPr/>
        </p:nvSpPr>
        <p:spPr>
          <a:xfrm>
            <a:off x="365760" y="4663440"/>
            <a:ext cx="8412480" cy="384048"/>
          </a:xfrm>
          <a:prstGeom prst="rect">
            <a:avLst/>
          </a:prstGeom>
          <a:noFill/>
          <a:ln/>
        </p:spPr>
        <p:txBody>
          <a:bodyPr wrap="square" lIns="0" tIns="0" rIns="0" bIns="0" rtlCol="0" anchor="ctr"/>
          <a:lstStyle/>
          <a:p>
            <a:pPr algn="ctr" indent="0" marL="0">
              <a:buNone/>
            </a:pPr>
            <a:r>
              <a:rPr lang="en-US" sz="1400" b="1" dirty="0">
                <a:solidFill>
                  <a:srgbClr val="FBBF24"/>
                </a:solidFill>
                <a:latin typeface="Calibri" pitchFamily="34" charset="0"/>
                <a:ea typeface="Calibri" pitchFamily="34" charset="-122"/>
                <a:cs typeface="Calibri" pitchFamily="34" charset="-120"/>
              </a:rPr>
              <a:t>SQLite Database: ev_analytics.db  |  4 Tables  |  Total: 1,03,665 Rows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365760" y="137160"/>
            <a:ext cx="8412480" cy="73152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DATA PREPARATION</a:t>
            </a:r>
            <a:endParaRPr lang="en-US" sz="2800" dirty="0"/>
          </a:p>
        </p:txBody>
      </p:sp>
      <p:sp>
        <p:nvSpPr>
          <p:cNvPr id="4" name="Shape 2"/>
          <p:cNvSpPr/>
          <p:nvPr/>
        </p:nvSpPr>
        <p:spPr>
          <a:xfrm>
            <a:off x="274320" y="1280160"/>
            <a:ext cx="1280160" cy="1005840"/>
          </a:xfrm>
          <a:prstGeom prst="roundRect">
            <a:avLst>
              <a:gd name="adj" fmla="val 9091"/>
            </a:avLst>
          </a:prstGeom>
          <a:solidFill>
            <a:srgbClr val="64748B"/>
          </a:solidFill>
          <a:ln w="12700">
            <a:solidFill>
              <a:srgbClr val="64748B"/>
            </a:solidFill>
            <a:prstDash val="solid"/>
          </a:ln>
        </p:spPr>
      </p:sp>
      <p:sp>
        <p:nvSpPr>
          <p:cNvPr id="5" name="Text 3"/>
          <p:cNvSpPr/>
          <p:nvPr/>
        </p:nvSpPr>
        <p:spPr>
          <a:xfrm>
            <a:off x="274320" y="1280160"/>
            <a:ext cx="1280160" cy="100584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Raw CSV Datasets</a:t>
            </a:r>
            <a:endParaRPr lang="en-US" sz="1000" dirty="0"/>
          </a:p>
        </p:txBody>
      </p:sp>
      <p:sp>
        <p:nvSpPr>
          <p:cNvPr id="6" name="Shape 4"/>
          <p:cNvSpPr/>
          <p:nvPr/>
        </p:nvSpPr>
        <p:spPr>
          <a:xfrm>
            <a:off x="1554480" y="1783080"/>
            <a:ext cx="182880" cy="0"/>
          </a:xfrm>
          <a:prstGeom prst="line">
            <a:avLst/>
          </a:prstGeom>
          <a:noFill/>
          <a:ln w="25400">
            <a:solidFill>
              <a:srgbClr val="0D9488"/>
            </a:solidFill>
            <a:prstDash val="solid"/>
          </a:ln>
        </p:spPr>
      </p:sp>
      <p:sp>
        <p:nvSpPr>
          <p:cNvPr id="7" name="Shape 5"/>
          <p:cNvSpPr/>
          <p:nvPr/>
        </p:nvSpPr>
        <p:spPr>
          <a:xfrm>
            <a:off x="1737360" y="1280160"/>
            <a:ext cx="1280160" cy="1005840"/>
          </a:xfrm>
          <a:prstGeom prst="roundRect">
            <a:avLst>
              <a:gd name="adj" fmla="val 9091"/>
            </a:avLst>
          </a:prstGeom>
          <a:solidFill>
            <a:srgbClr val="0D9488"/>
          </a:solidFill>
          <a:ln w="12700">
            <a:solidFill>
              <a:srgbClr val="0D9488"/>
            </a:solidFill>
            <a:prstDash val="solid"/>
          </a:ln>
        </p:spPr>
      </p:sp>
      <p:sp>
        <p:nvSpPr>
          <p:cNvPr id="8" name="Text 6"/>
          <p:cNvSpPr/>
          <p:nvPr/>
        </p:nvSpPr>
        <p:spPr>
          <a:xfrm>
            <a:off x="1737360" y="1280160"/>
            <a:ext cx="1280160" cy="100584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data_cleaning.py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(Python / Pandas)</a:t>
            </a:r>
            <a:endParaRPr lang="en-US" sz="1000" dirty="0"/>
          </a:p>
        </p:txBody>
      </p:sp>
      <p:sp>
        <p:nvSpPr>
          <p:cNvPr id="9" name="Shape 7"/>
          <p:cNvSpPr/>
          <p:nvPr/>
        </p:nvSpPr>
        <p:spPr>
          <a:xfrm>
            <a:off x="3017520" y="1783080"/>
            <a:ext cx="182880" cy="0"/>
          </a:xfrm>
          <a:prstGeom prst="line">
            <a:avLst/>
          </a:prstGeom>
          <a:noFill/>
          <a:ln w="25400">
            <a:solidFill>
              <a:srgbClr val="0D9488"/>
            </a:solidFill>
            <a:prstDash val="solid"/>
          </a:ln>
        </p:spPr>
      </p:sp>
      <p:sp>
        <p:nvSpPr>
          <p:cNvPr id="10" name="Shape 8"/>
          <p:cNvSpPr/>
          <p:nvPr/>
        </p:nvSpPr>
        <p:spPr>
          <a:xfrm>
            <a:off x="3200400" y="1280160"/>
            <a:ext cx="1280160" cy="1005840"/>
          </a:xfrm>
          <a:prstGeom prst="roundRect">
            <a:avLst>
              <a:gd name="adj" fmla="val 9091"/>
            </a:avLst>
          </a:prstGeom>
          <a:solidFill>
            <a:srgbClr val="059669"/>
          </a:solidFill>
          <a:ln w="12700">
            <a:solidFill>
              <a:srgbClr val="059669"/>
            </a:solidFill>
            <a:prstDash val="solid"/>
          </a:ln>
        </p:spPr>
      </p:sp>
      <p:sp>
        <p:nvSpPr>
          <p:cNvPr id="11" name="Text 9"/>
          <p:cNvSpPr/>
          <p:nvPr/>
        </p:nvSpPr>
        <p:spPr>
          <a:xfrm>
            <a:off x="3200400" y="1280160"/>
            <a:ext cx="1280160" cy="100584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SQLite Database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ev_analytics.db</a:t>
            </a:r>
            <a:endParaRPr lang="en-US" sz="1000" dirty="0"/>
          </a:p>
        </p:txBody>
      </p:sp>
      <p:sp>
        <p:nvSpPr>
          <p:cNvPr id="12" name="Shape 10"/>
          <p:cNvSpPr/>
          <p:nvPr/>
        </p:nvSpPr>
        <p:spPr>
          <a:xfrm>
            <a:off x="4480560" y="1783080"/>
            <a:ext cx="182880" cy="0"/>
          </a:xfrm>
          <a:prstGeom prst="line">
            <a:avLst/>
          </a:prstGeom>
          <a:noFill/>
          <a:ln w="25400">
            <a:solidFill>
              <a:srgbClr val="0D9488"/>
            </a:solidFill>
            <a:prstDash val="solid"/>
          </a:ln>
        </p:spPr>
      </p:sp>
      <p:sp>
        <p:nvSpPr>
          <p:cNvPr id="13" name="Shape 11"/>
          <p:cNvSpPr/>
          <p:nvPr/>
        </p:nvSpPr>
        <p:spPr>
          <a:xfrm>
            <a:off x="4663440" y="1280160"/>
            <a:ext cx="1280160" cy="1005840"/>
          </a:xfrm>
          <a:prstGeom prst="roundRect">
            <a:avLst>
              <a:gd name="adj" fmla="val 9091"/>
            </a:avLst>
          </a:prstGeom>
          <a:solidFill>
            <a:srgbClr val="7C3AED"/>
          </a:solidFill>
          <a:ln w="12700">
            <a:solidFill>
              <a:srgbClr val="7C3AED"/>
            </a:solidFill>
            <a:prstDash val="solid"/>
          </a:ln>
        </p:spPr>
      </p:sp>
      <p:sp>
        <p:nvSpPr>
          <p:cNvPr id="14" name="Text 12"/>
          <p:cNvSpPr/>
          <p:nvPr/>
        </p:nvSpPr>
        <p:spPr>
          <a:xfrm>
            <a:off x="4663440" y="1280160"/>
            <a:ext cx="1280160" cy="100584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Tableau</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Dashboards</a:t>
            </a:r>
            <a:endParaRPr lang="en-US" sz="1000" dirty="0"/>
          </a:p>
        </p:txBody>
      </p:sp>
      <p:sp>
        <p:nvSpPr>
          <p:cNvPr id="15" name="Shape 13"/>
          <p:cNvSpPr/>
          <p:nvPr/>
        </p:nvSpPr>
        <p:spPr>
          <a:xfrm>
            <a:off x="5943600" y="1783080"/>
            <a:ext cx="182880" cy="0"/>
          </a:xfrm>
          <a:prstGeom prst="line">
            <a:avLst/>
          </a:prstGeom>
          <a:noFill/>
          <a:ln w="25400">
            <a:solidFill>
              <a:srgbClr val="0D9488"/>
            </a:solidFill>
            <a:prstDash val="solid"/>
          </a:ln>
        </p:spPr>
      </p:sp>
      <p:sp>
        <p:nvSpPr>
          <p:cNvPr id="16" name="Shape 14"/>
          <p:cNvSpPr/>
          <p:nvPr/>
        </p:nvSpPr>
        <p:spPr>
          <a:xfrm>
            <a:off x="6126480" y="1280160"/>
            <a:ext cx="1280160" cy="1005840"/>
          </a:xfrm>
          <a:prstGeom prst="roundRect">
            <a:avLst>
              <a:gd name="adj" fmla="val 9091"/>
            </a:avLst>
          </a:prstGeom>
          <a:solidFill>
            <a:srgbClr val="14B8A6"/>
          </a:solidFill>
          <a:ln w="12700">
            <a:solidFill>
              <a:srgbClr val="14B8A6"/>
            </a:solidFill>
            <a:prstDash val="solid"/>
          </a:ln>
        </p:spPr>
      </p:sp>
      <p:sp>
        <p:nvSpPr>
          <p:cNvPr id="17" name="Text 15"/>
          <p:cNvSpPr/>
          <p:nvPr/>
        </p:nvSpPr>
        <p:spPr>
          <a:xfrm>
            <a:off x="6126480" y="1280160"/>
            <a:ext cx="1280160" cy="100584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Flask Website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E-CarStart</a:t>
            </a:r>
            <a:endParaRPr lang="en-US" sz="1000" dirty="0"/>
          </a:p>
        </p:txBody>
      </p:sp>
      <p:sp>
        <p:nvSpPr>
          <p:cNvPr id="18" name="Shape 16"/>
          <p:cNvSpPr/>
          <p:nvPr/>
        </p:nvSpPr>
        <p:spPr>
          <a:xfrm>
            <a:off x="7406640" y="1783080"/>
            <a:ext cx="182880" cy="0"/>
          </a:xfrm>
          <a:prstGeom prst="line">
            <a:avLst/>
          </a:prstGeom>
          <a:noFill/>
          <a:ln w="25400">
            <a:solidFill>
              <a:srgbClr val="0D9488"/>
            </a:solidFill>
            <a:prstDash val="solid"/>
          </a:ln>
        </p:spPr>
      </p:sp>
      <p:sp>
        <p:nvSpPr>
          <p:cNvPr id="19" name="Shape 17"/>
          <p:cNvSpPr/>
          <p:nvPr/>
        </p:nvSpPr>
        <p:spPr>
          <a:xfrm>
            <a:off x="7589520" y="1280160"/>
            <a:ext cx="1280160" cy="1005840"/>
          </a:xfrm>
          <a:prstGeom prst="roundRect">
            <a:avLst>
              <a:gd name="adj" fmla="val 9091"/>
            </a:avLst>
          </a:prstGeom>
          <a:solidFill>
            <a:srgbClr val="FBBF24"/>
          </a:solidFill>
          <a:ln w="12700">
            <a:solidFill>
              <a:srgbClr val="FBBF24"/>
            </a:solidFill>
            <a:prstDash val="solid"/>
          </a:ln>
        </p:spPr>
      </p:sp>
      <p:sp>
        <p:nvSpPr>
          <p:cNvPr id="20" name="Text 18"/>
          <p:cNvSpPr/>
          <p:nvPr/>
        </p:nvSpPr>
        <p:spPr>
          <a:xfrm>
            <a:off x="7589520" y="1280160"/>
            <a:ext cx="1280160" cy="100584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End User</a:t>
            </a:r>
            <a:endParaRPr lang="en-US" sz="1000" dirty="0"/>
          </a:p>
        </p:txBody>
      </p:sp>
      <p:sp>
        <p:nvSpPr>
          <p:cNvPr id="21" name="Text 19"/>
          <p:cNvSpPr/>
          <p:nvPr/>
        </p:nvSpPr>
        <p:spPr>
          <a:xfrm>
            <a:off x="365760" y="2468880"/>
            <a:ext cx="8229600" cy="347472"/>
          </a:xfrm>
          <a:prstGeom prst="rect">
            <a:avLst/>
          </a:prstGeom>
          <a:noFill/>
          <a:ln/>
        </p:spPr>
        <p:txBody>
          <a:bodyPr wrap="square" lIns="0" tIns="0" rIns="0" bIns="0" rtlCol="0" anchor="ctr"/>
          <a:lstStyle/>
          <a:p>
            <a:pPr indent="0" marL="0">
              <a:buNone/>
            </a:pPr>
            <a:r>
              <a:rPr lang="en-US" sz="1600" b="1" dirty="0">
                <a:solidFill>
                  <a:srgbClr val="0D9488"/>
                </a:solidFill>
                <a:latin typeface="Cambria" pitchFamily="34" charset="0"/>
                <a:ea typeface="Cambria" pitchFamily="34" charset="-122"/>
                <a:cs typeface="Cambria" pitchFamily="34" charset="-120"/>
              </a:rPr>
              <a:t>What we cleaned:</a:t>
            </a:r>
            <a:endParaRPr lang="en-US" sz="1600" dirty="0"/>
          </a:p>
        </p:txBody>
      </p:sp>
      <p:sp>
        <p:nvSpPr>
          <p:cNvPr id="22" name="Text 20"/>
          <p:cNvSpPr/>
          <p:nvPr/>
        </p:nvSpPr>
        <p:spPr>
          <a:xfrm>
            <a:off x="365760" y="2880360"/>
            <a:ext cx="4206240" cy="475488"/>
          </a:xfrm>
          <a:prstGeom prst="rect">
            <a:avLst/>
          </a:prstGeom>
          <a:noFill/>
          <a:ln/>
        </p:spPr>
        <p:txBody>
          <a:bodyPr wrap="square" lIns="0" tIns="0" rIns="0" bIns="0" rtlCol="0" anchor="ctr"/>
          <a:lstStyle/>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Removed null and missing values from all 4 datasets</a:t>
            </a:r>
            <a:endParaRPr lang="en-US" sz="1300" dirty="0"/>
          </a:p>
        </p:txBody>
      </p:sp>
      <p:sp>
        <p:nvSpPr>
          <p:cNvPr id="23" name="Text 21"/>
          <p:cNvSpPr/>
          <p:nvPr/>
        </p:nvSpPr>
        <p:spPr>
          <a:xfrm>
            <a:off x="365760" y="3410712"/>
            <a:ext cx="4206240" cy="475488"/>
          </a:xfrm>
          <a:prstGeom prst="rect">
            <a:avLst/>
          </a:prstGeom>
          <a:noFill/>
          <a:ln/>
        </p:spPr>
        <p:txBody>
          <a:bodyPr wrap="square" lIns="0" tIns="0" rIns="0" bIns="0" rtlCol="0" anchor="ctr"/>
          <a:lstStyle/>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Fixed inconsistencies in column names and data types</a:t>
            </a:r>
            <a:endParaRPr lang="en-US" sz="1300" dirty="0"/>
          </a:p>
        </p:txBody>
      </p:sp>
      <p:sp>
        <p:nvSpPr>
          <p:cNvPr id="24" name="Text 22"/>
          <p:cNvSpPr/>
          <p:nvPr/>
        </p:nvSpPr>
        <p:spPr>
          <a:xfrm>
            <a:off x="365760" y="3941064"/>
            <a:ext cx="4206240" cy="475488"/>
          </a:xfrm>
          <a:prstGeom prst="rect">
            <a:avLst/>
          </a:prstGeom>
          <a:noFill/>
          <a:ln/>
        </p:spPr>
        <p:txBody>
          <a:bodyPr wrap="square" lIns="0" tIns="0" rIns="0" bIns="0" rtlCol="0" anchor="ctr"/>
          <a:lstStyle/>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Removed duplicate records</a:t>
            </a:r>
            <a:endParaRPr lang="en-US" sz="1300" dirty="0"/>
          </a:p>
        </p:txBody>
      </p:sp>
      <p:sp>
        <p:nvSpPr>
          <p:cNvPr id="25" name="Text 23"/>
          <p:cNvSpPr/>
          <p:nvPr/>
        </p:nvSpPr>
        <p:spPr>
          <a:xfrm>
            <a:off x="4937760" y="2880360"/>
            <a:ext cx="4206240" cy="475488"/>
          </a:xfrm>
          <a:prstGeom prst="rect">
            <a:avLst/>
          </a:prstGeom>
          <a:noFill/>
          <a:ln/>
        </p:spPr>
        <p:txBody>
          <a:bodyPr wrap="square" lIns="0" tIns="0" rIns="0" bIns="0" rtlCol="0" anchor="ctr"/>
          <a:lstStyle/>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Standardized format of all datasets for Tableau visualization</a:t>
            </a:r>
            <a:endParaRPr lang="en-US" sz="1300" dirty="0"/>
          </a:p>
        </p:txBody>
      </p:sp>
      <p:sp>
        <p:nvSpPr>
          <p:cNvPr id="26" name="Text 24"/>
          <p:cNvSpPr/>
          <p:nvPr/>
        </p:nvSpPr>
        <p:spPr>
          <a:xfrm>
            <a:off x="4937760" y="3410712"/>
            <a:ext cx="4206240" cy="475488"/>
          </a:xfrm>
          <a:prstGeom prst="rect">
            <a:avLst/>
          </a:prstGeom>
          <a:noFill/>
          <a:ln/>
        </p:spPr>
        <p:txBody>
          <a:bodyPr wrap="square" lIns="0" tIns="0" rIns="0" bIns="0" rtlCol="0" anchor="ctr"/>
          <a:lstStyle/>
          <a:p>
            <a:pPr marL="342900" indent="-342900">
              <a:buSzPct val="100000"/>
              <a:buChar char="•"/>
            </a:pPr>
            <a:r>
              <a:rPr lang="en-US" sz="1300" dirty="0">
                <a:solidFill>
                  <a:srgbClr val="0D1B2A"/>
                </a:solidFill>
                <a:latin typeface="Calibri" pitchFamily="34" charset="0"/>
                <a:ea typeface="Calibri" pitchFamily="34" charset="-122"/>
                <a:cs typeface="Calibri" pitchFamily="34" charset="-120"/>
              </a:rPr>
              <a:t>Created 2 calculated fields: Count and Count_powertrain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sp>
      <p:sp>
        <p:nvSpPr>
          <p:cNvPr id="3" name="Text 1"/>
          <p:cNvSpPr/>
          <p:nvPr/>
        </p:nvSpPr>
        <p:spPr>
          <a:xfrm>
            <a:off x="365760" y="137160"/>
            <a:ext cx="8412480" cy="73152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TABLEAU VISUALIZATIONS</a:t>
            </a:r>
            <a:endParaRPr lang="en-US" sz="2800" dirty="0"/>
          </a:p>
        </p:txBody>
      </p:sp>
      <p:sp>
        <p:nvSpPr>
          <p:cNvPr id="4" name="Text 2"/>
          <p:cNvSpPr/>
          <p:nvPr/>
        </p:nvSpPr>
        <p:spPr>
          <a:xfrm>
            <a:off x="365760" y="1051560"/>
            <a:ext cx="8412480" cy="41148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18 Total Visualizations  |  2 Dashboards  |  4 Filters  |  2 Calculated Fields</a:t>
            </a:r>
            <a:endParaRPr lang="en-US" sz="1400" dirty="0"/>
          </a:p>
        </p:txBody>
      </p:sp>
      <p:sp>
        <p:nvSpPr>
          <p:cNvPr id="5" name="Shape 3"/>
          <p:cNvSpPr/>
          <p:nvPr/>
        </p:nvSpPr>
        <p:spPr>
          <a:xfrm>
            <a:off x="274320" y="1554480"/>
            <a:ext cx="4114800" cy="3383280"/>
          </a:xfrm>
          <a:prstGeom prst="roundRect">
            <a:avLst>
              <a:gd name="adj" fmla="val 3243"/>
            </a:avLst>
          </a:prstGeom>
          <a:solidFill>
            <a:srgbClr val="FFFFFF"/>
          </a:solidFill>
          <a:ln w="12700">
            <a:solidFill>
              <a:srgbClr val="0D948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65760" y="1627632"/>
            <a:ext cx="3931920" cy="41148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  India EV Analytics Dashboard</a:t>
            </a:r>
            <a:endParaRPr lang="en-US" sz="1300" dirty="0"/>
          </a:p>
        </p:txBody>
      </p:sp>
      <p:sp>
        <p:nvSpPr>
          <p:cNvPr id="7" name="Text 5"/>
          <p:cNvSpPr/>
          <p:nvPr/>
        </p:nvSpPr>
        <p:spPr>
          <a:xfrm>
            <a:off x="457200" y="2057400"/>
            <a:ext cx="3749040" cy="2743200"/>
          </a:xfrm>
          <a:prstGeom prst="rect">
            <a:avLst/>
          </a:prstGeom>
          <a:noFill/>
          <a:ln/>
        </p:spPr>
        <p:txBody>
          <a:bodyPr wrap="square" lIns="50800" tIns="50800" rIns="50800" bIns="5080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EV Charging Stations Map</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Charging Stations by Region &amp; Type</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Top Speed for Different Brands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Top 10 Most Efficient EV Brands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Different EV Cars in India (Treemap)</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Brands According to Bodystyle</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Brand Filtered by PowerTrain</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Price for Different Cars</a:t>
            </a:r>
            <a:endParaRPr lang="en-US" sz="1100" dirty="0"/>
          </a:p>
        </p:txBody>
      </p:sp>
      <p:sp>
        <p:nvSpPr>
          <p:cNvPr id="8" name="Shape 6"/>
          <p:cNvSpPr/>
          <p:nvPr/>
        </p:nvSpPr>
        <p:spPr>
          <a:xfrm>
            <a:off x="4754880" y="1554480"/>
            <a:ext cx="4114800" cy="3383280"/>
          </a:xfrm>
          <a:prstGeom prst="roundRect">
            <a:avLst>
              <a:gd name="adj" fmla="val 3243"/>
            </a:avLst>
          </a:prstGeom>
          <a:solidFill>
            <a:srgbClr val="FFFFFF"/>
          </a:solidFill>
          <a:ln w="12700">
            <a:solidFill>
              <a:srgbClr val="059669"/>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846320" y="1627632"/>
            <a:ext cx="3931920" cy="411480"/>
          </a:xfrm>
          <a:prstGeom prst="rect">
            <a:avLst/>
          </a:prstGeom>
          <a:noFill/>
          <a:ln/>
        </p:spPr>
        <p:txBody>
          <a:bodyPr wrap="square" lIns="0" tIns="0" rIns="0" bIns="0" rtlCol="0" anchor="ctr"/>
          <a:lstStyle/>
          <a:p>
            <a:pPr algn="ctr" indent="0" marL="0">
              <a:buNone/>
            </a:pPr>
            <a:r>
              <a:rPr lang="en-US" sz="1300" b="1" dirty="0">
                <a:solidFill>
                  <a:srgbClr val="059669"/>
                </a:solidFill>
                <a:latin typeface="Calibri" pitchFamily="34" charset="0"/>
                <a:ea typeface="Calibri" pitchFamily="34" charset="-122"/>
                <a:cs typeface="Calibri" pitchFamily="34" charset="-120"/>
              </a:rPr>
              <a:t>🌍  Global EV Market Overview</a:t>
            </a:r>
            <a:endParaRPr lang="en-US" sz="1300" dirty="0"/>
          </a:p>
        </p:txBody>
      </p:sp>
      <p:sp>
        <p:nvSpPr>
          <p:cNvPr id="10" name="Text 8"/>
          <p:cNvSpPr/>
          <p:nvPr/>
        </p:nvSpPr>
        <p:spPr>
          <a:xfrm>
            <a:off x="4937760" y="2057400"/>
            <a:ext cx="3749040" cy="1828800"/>
          </a:xfrm>
          <a:prstGeom prst="rect">
            <a:avLst/>
          </a:prstGeom>
          <a:noFill/>
          <a:ln/>
        </p:spPr>
        <p:txBody>
          <a:bodyPr wrap="square" lIns="50800" tIns="50800" rIns="50800" bIns="5080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EV Models by Brand</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Avg Battery Capacity by Brand</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Avg Driving Range by Brand</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Avg Top Speed by Brand</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Avg Fast Charging Power</a:t>
            </a:r>
            <a:endParaRPr lang="en-US" sz="1100" dirty="0"/>
          </a:p>
        </p:txBody>
      </p:sp>
      <p:sp>
        <p:nvSpPr>
          <p:cNvPr id="11" name="Text 9"/>
          <p:cNvSpPr/>
          <p:nvPr/>
        </p:nvSpPr>
        <p:spPr>
          <a:xfrm>
            <a:off x="4846320" y="3840480"/>
            <a:ext cx="3749040" cy="32004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4 Interactive Filters:</a:t>
            </a:r>
            <a:endParaRPr lang="en-US" sz="1200" dirty="0"/>
          </a:p>
        </p:txBody>
      </p:sp>
      <p:sp>
        <p:nvSpPr>
          <p:cNvPr id="12" name="Shape 10"/>
          <p:cNvSpPr/>
          <p:nvPr/>
        </p:nvSpPr>
        <p:spPr>
          <a:xfrm>
            <a:off x="4846320" y="4160520"/>
            <a:ext cx="896112" cy="457200"/>
          </a:xfrm>
          <a:prstGeom prst="roundRect">
            <a:avLst>
              <a:gd name="adj" fmla="val 16000"/>
            </a:avLst>
          </a:prstGeom>
          <a:solidFill>
            <a:srgbClr val="14B8A6"/>
          </a:solidFill>
          <a:ln w="12700">
            <a:solidFill>
              <a:srgbClr val="14B8A6"/>
            </a:solidFill>
            <a:prstDash val="solid"/>
          </a:ln>
        </p:spPr>
      </p:sp>
      <p:sp>
        <p:nvSpPr>
          <p:cNvPr id="13" name="Text 11"/>
          <p:cNvSpPr/>
          <p:nvPr/>
        </p:nvSpPr>
        <p:spPr>
          <a:xfrm>
            <a:off x="4846320" y="4160520"/>
            <a:ext cx="896112" cy="457200"/>
          </a:xfrm>
          <a:prstGeom prst="rect">
            <a:avLst/>
          </a:prstGeom>
          <a:noFill/>
          <a:ln/>
        </p:spPr>
        <p:txBody>
          <a:bodyPr wrap="square" lIns="0" tIns="0" rIns="0" bIns="0" rtlCol="0" anchor="ctr"/>
          <a:lstStyle/>
          <a:p>
            <a:pPr algn="ctr" indent="0" marL="0">
              <a:buNone/>
            </a:pPr>
            <a:r>
              <a:rPr lang="en-US" sz="1000" b="1" dirty="0">
                <a:solidFill>
                  <a:srgbClr val="FFFFFF"/>
                </a:solidFill>
              </a:rPr>
              <a:t>BodyStyle</a:t>
            </a:r>
            <a:endParaRPr lang="en-US" sz="1000" dirty="0"/>
          </a:p>
        </p:txBody>
      </p:sp>
      <p:sp>
        <p:nvSpPr>
          <p:cNvPr id="14" name="Shape 12"/>
          <p:cNvSpPr/>
          <p:nvPr/>
        </p:nvSpPr>
        <p:spPr>
          <a:xfrm>
            <a:off x="5806440" y="4160520"/>
            <a:ext cx="896112" cy="457200"/>
          </a:xfrm>
          <a:prstGeom prst="roundRect">
            <a:avLst>
              <a:gd name="adj" fmla="val 16000"/>
            </a:avLst>
          </a:prstGeom>
          <a:solidFill>
            <a:srgbClr val="14B8A6"/>
          </a:solidFill>
          <a:ln w="12700">
            <a:solidFill>
              <a:srgbClr val="14B8A6"/>
            </a:solidFill>
            <a:prstDash val="solid"/>
          </a:ln>
        </p:spPr>
      </p:sp>
      <p:sp>
        <p:nvSpPr>
          <p:cNvPr id="15" name="Text 13"/>
          <p:cNvSpPr/>
          <p:nvPr/>
        </p:nvSpPr>
        <p:spPr>
          <a:xfrm>
            <a:off x="5806440" y="4160520"/>
            <a:ext cx="896112" cy="457200"/>
          </a:xfrm>
          <a:prstGeom prst="rect">
            <a:avLst/>
          </a:prstGeom>
          <a:noFill/>
          <a:ln/>
        </p:spPr>
        <p:txBody>
          <a:bodyPr wrap="square" lIns="0" tIns="0" rIns="0" bIns="0" rtlCol="0" anchor="ctr"/>
          <a:lstStyle/>
          <a:p>
            <a:pPr algn="ctr" indent="0" marL="0">
              <a:buNone/>
            </a:pPr>
            <a:r>
              <a:rPr lang="en-US" sz="1000" b="1" dirty="0">
                <a:solidFill>
                  <a:srgbClr val="FFFFFF"/>
                </a:solidFill>
              </a:rPr>
              <a:t>Brand</a:t>
            </a:r>
            <a:endParaRPr lang="en-US" sz="1000" dirty="0"/>
          </a:p>
        </p:txBody>
      </p:sp>
      <p:sp>
        <p:nvSpPr>
          <p:cNvPr id="16" name="Shape 14"/>
          <p:cNvSpPr/>
          <p:nvPr/>
        </p:nvSpPr>
        <p:spPr>
          <a:xfrm>
            <a:off x="6766560" y="4160520"/>
            <a:ext cx="896112" cy="457200"/>
          </a:xfrm>
          <a:prstGeom prst="roundRect">
            <a:avLst>
              <a:gd name="adj" fmla="val 16000"/>
            </a:avLst>
          </a:prstGeom>
          <a:solidFill>
            <a:srgbClr val="14B8A6"/>
          </a:solidFill>
          <a:ln w="12700">
            <a:solidFill>
              <a:srgbClr val="14B8A6"/>
            </a:solidFill>
            <a:prstDash val="solid"/>
          </a:ln>
        </p:spPr>
      </p:sp>
      <p:sp>
        <p:nvSpPr>
          <p:cNvPr id="17" name="Text 15"/>
          <p:cNvSpPr/>
          <p:nvPr/>
        </p:nvSpPr>
        <p:spPr>
          <a:xfrm>
            <a:off x="6766560" y="4160520"/>
            <a:ext cx="896112" cy="457200"/>
          </a:xfrm>
          <a:prstGeom prst="rect">
            <a:avLst/>
          </a:prstGeom>
          <a:noFill/>
          <a:ln/>
        </p:spPr>
        <p:txBody>
          <a:bodyPr wrap="square" lIns="0" tIns="0" rIns="0" bIns="0" rtlCol="0" anchor="ctr"/>
          <a:lstStyle/>
          <a:p>
            <a:pPr algn="ctr" indent="0" marL="0">
              <a:buNone/>
            </a:pPr>
            <a:r>
              <a:rPr lang="en-US" sz="1000" b="1" dirty="0">
                <a:solidFill>
                  <a:srgbClr val="FFFFFF"/>
                </a:solidFill>
              </a:rPr>
              <a:t>PowerTrain</a:t>
            </a:r>
            <a:endParaRPr lang="en-US" sz="1000" dirty="0"/>
          </a:p>
        </p:txBody>
      </p:sp>
      <p:sp>
        <p:nvSpPr>
          <p:cNvPr id="18" name="Shape 16"/>
          <p:cNvSpPr/>
          <p:nvPr/>
        </p:nvSpPr>
        <p:spPr>
          <a:xfrm>
            <a:off x="7726680" y="4160520"/>
            <a:ext cx="896112" cy="457200"/>
          </a:xfrm>
          <a:prstGeom prst="roundRect">
            <a:avLst>
              <a:gd name="adj" fmla="val 16000"/>
            </a:avLst>
          </a:prstGeom>
          <a:solidFill>
            <a:srgbClr val="14B8A6"/>
          </a:solidFill>
          <a:ln w="12700">
            <a:solidFill>
              <a:srgbClr val="14B8A6"/>
            </a:solidFill>
            <a:prstDash val="solid"/>
          </a:ln>
        </p:spPr>
      </p:sp>
      <p:sp>
        <p:nvSpPr>
          <p:cNvPr id="19" name="Text 17"/>
          <p:cNvSpPr/>
          <p:nvPr/>
        </p:nvSpPr>
        <p:spPr>
          <a:xfrm>
            <a:off x="7726680" y="4160520"/>
            <a:ext cx="896112" cy="457200"/>
          </a:xfrm>
          <a:prstGeom prst="rect">
            <a:avLst/>
          </a:prstGeom>
          <a:noFill/>
          <a:ln/>
        </p:spPr>
        <p:txBody>
          <a:bodyPr wrap="square" lIns="0" tIns="0" rIns="0" bIns="0" rtlCol="0" anchor="ctr"/>
          <a:lstStyle/>
          <a:p>
            <a:pPr algn="ctr" indent="0" marL="0">
              <a:buNone/>
            </a:pPr>
            <a:r>
              <a:rPr lang="en-US" sz="1000" b="1" dirty="0">
                <a:solidFill>
                  <a:srgbClr val="FFFFFF"/>
                </a:solidFill>
              </a:rPr>
              <a:t>Car Filter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9488"/>
          </a:solidFill>
          <a:ln w="12700">
            <a:solidFill>
              <a:srgbClr val="0D9488"/>
            </a:solidFill>
            <a:prstDash val="solid"/>
          </a:ln>
        </p:spPr>
      </p:sp>
      <p:sp>
        <p:nvSpPr>
          <p:cNvPr id="3" name="Text 1"/>
          <p:cNvSpPr/>
          <p:nvPr/>
        </p:nvSpPr>
        <p:spPr>
          <a:xfrm>
            <a:off x="365760" y="109728"/>
            <a:ext cx="8412480" cy="694944"/>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INDIA EV ANALYTICS DASHBOARD</a:t>
            </a:r>
            <a:endParaRPr lang="en-US" sz="2600" dirty="0"/>
          </a:p>
        </p:txBody>
      </p:sp>
      <p:pic>
        <p:nvPicPr>
          <p:cNvPr id="4" name="Image 0" descr="/home/claude/images/img_charging_dashboard.jpg">    </p:cNvPr>
          <p:cNvPicPr>
            <a:picLocks noChangeAspect="1"/>
          </p:cNvPicPr>
          <p:nvPr/>
        </p:nvPicPr>
        <p:blipFill>
          <a:blip r:embed="rId1"/>
          <a:srcRect l="0" r="0" t="0" b="0"/>
          <a:stretch/>
        </p:blipFill>
        <p:spPr>
          <a:xfrm>
            <a:off x="274320" y="1005840"/>
            <a:ext cx="8595360" cy="3931920"/>
          </a:xfrm>
          <a:prstGeom prst="rect">
            <a:avLst/>
          </a:prstGeom>
        </p:spPr>
      </p:pic>
      <p:sp>
        <p:nvSpPr>
          <p:cNvPr id="5" name="Text 2"/>
          <p:cNvSpPr/>
          <p:nvPr/>
        </p:nvSpPr>
        <p:spPr>
          <a:xfrm>
            <a:off x="274320" y="4800600"/>
            <a:ext cx="859536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Tableau Public Dashboard  |  Interactive Filters  |  Live Data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59669"/>
          </a:solidFill>
          <a:ln w="12700">
            <a:solidFill>
              <a:srgbClr val="059669"/>
            </a:solidFill>
            <a:prstDash val="solid"/>
          </a:ln>
        </p:spPr>
      </p:sp>
      <p:sp>
        <p:nvSpPr>
          <p:cNvPr id="3" name="Text 1"/>
          <p:cNvSpPr/>
          <p:nvPr/>
        </p:nvSpPr>
        <p:spPr>
          <a:xfrm>
            <a:off x="365760" y="109728"/>
            <a:ext cx="8412480" cy="694944"/>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GLOBAL EV MARKET OVERVIEW DASHBOARD</a:t>
            </a:r>
            <a:endParaRPr lang="en-US" sz="2400" dirty="0"/>
          </a:p>
        </p:txBody>
      </p:sp>
      <p:pic>
        <p:nvPicPr>
          <p:cNvPr id="4" name="Image 0" descr="/home/claude/images/img_global_dashboard.jpg">    </p:cNvPr>
          <p:cNvPicPr>
            <a:picLocks noChangeAspect="1"/>
          </p:cNvPicPr>
          <p:nvPr/>
        </p:nvPicPr>
        <p:blipFill>
          <a:blip r:embed="rId1"/>
          <a:srcRect l="0" r="0" t="0" b="0"/>
          <a:stretch/>
        </p:blipFill>
        <p:spPr>
          <a:xfrm>
            <a:off x="274320" y="1005840"/>
            <a:ext cx="4114800" cy="2286000"/>
          </a:xfrm>
          <a:prstGeom prst="rect">
            <a:avLst/>
          </a:prstGeom>
        </p:spPr>
      </p:pic>
      <p:pic>
        <p:nvPicPr>
          <p:cNvPr id="5" name="Image 1" descr="/home/claude/images/img_speed_eff.jpg">    </p:cNvPr>
          <p:cNvPicPr>
            <a:picLocks noChangeAspect="1"/>
          </p:cNvPicPr>
          <p:nvPr/>
        </p:nvPicPr>
        <p:blipFill>
          <a:blip r:embed="rId2"/>
          <a:srcRect l="0" r="0" t="0" b="0"/>
          <a:stretch/>
        </p:blipFill>
        <p:spPr>
          <a:xfrm>
            <a:off x="4572000" y="1005840"/>
            <a:ext cx="4297680" cy="2286000"/>
          </a:xfrm>
          <a:prstGeom prst="rect">
            <a:avLst/>
          </a:prstGeom>
        </p:spPr>
      </p:pic>
      <p:pic>
        <p:nvPicPr>
          <p:cNvPr id="6" name="Image 2" descr="/home/claude/images/img_brand_stats.jpg">    </p:cNvPr>
          <p:cNvPicPr>
            <a:picLocks noChangeAspect="1"/>
          </p:cNvPicPr>
          <p:nvPr/>
        </p:nvPicPr>
        <p:blipFill>
          <a:blip r:embed="rId3"/>
          <a:srcRect l="0" r="0" t="0" b="0"/>
          <a:stretch/>
        </p:blipFill>
        <p:spPr>
          <a:xfrm>
            <a:off x="274320" y="3383280"/>
            <a:ext cx="4114800" cy="1645920"/>
          </a:xfrm>
          <a:prstGeom prst="rect">
            <a:avLst/>
          </a:prstGeom>
        </p:spPr>
      </p:pic>
      <p:pic>
        <p:nvPicPr>
          <p:cNvPr id="7" name="Image 3" descr="/home/claude/images/img_treemap.jpg">    </p:cNvPr>
          <p:cNvPicPr>
            <a:picLocks noChangeAspect="1"/>
          </p:cNvPicPr>
          <p:nvPr/>
        </p:nvPicPr>
        <p:blipFill>
          <a:blip r:embed="rId4"/>
          <a:srcRect l="0" r="0" t="0" b="0"/>
          <a:stretch/>
        </p:blipFill>
        <p:spPr>
          <a:xfrm>
            <a:off x="4572000" y="3383280"/>
            <a:ext cx="4297680" cy="1645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7C3AED"/>
          </a:solidFill>
          <a:ln w="12700">
            <a:solidFill>
              <a:srgbClr val="7C3AED"/>
            </a:solidFill>
            <a:prstDash val="solid"/>
          </a:ln>
        </p:spPr>
      </p:sp>
      <p:sp>
        <p:nvSpPr>
          <p:cNvPr id="3" name="Text 1"/>
          <p:cNvSpPr/>
          <p:nvPr/>
        </p:nvSpPr>
        <p:spPr>
          <a:xfrm>
            <a:off x="365760" y="137160"/>
            <a:ext cx="8412480" cy="73152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TABLEAU STORY</a:t>
            </a:r>
            <a:endParaRPr lang="en-US" sz="2800" dirty="0"/>
          </a:p>
        </p:txBody>
      </p:sp>
      <p:sp>
        <p:nvSpPr>
          <p:cNvPr id="4" name="Text 2"/>
          <p:cNvSpPr/>
          <p:nvPr/>
        </p:nvSpPr>
        <p:spPr>
          <a:xfrm>
            <a:off x="365760" y="1097280"/>
            <a:ext cx="8412480" cy="365760"/>
          </a:xfrm>
          <a:prstGeom prst="rect">
            <a:avLst/>
          </a:prstGeom>
          <a:noFill/>
          <a:ln/>
        </p:spPr>
        <p:txBody>
          <a:bodyPr wrap="square" lIns="0" tIns="0" rIns="0" bIns="0" rtlCol="0" anchor="ctr"/>
          <a:lstStyle/>
          <a:p>
            <a:pPr indent="0" marL="0">
              <a:buNone/>
            </a:pPr>
            <a:r>
              <a:rPr lang="en-US" sz="1600" b="1" dirty="0">
                <a:solidFill>
                  <a:srgbClr val="7C3AED"/>
                </a:solidFill>
                <a:latin typeface="Cambria" pitchFamily="34" charset="0"/>
                <a:ea typeface="Cambria" pitchFamily="34" charset="-122"/>
                <a:cs typeface="Cambria" pitchFamily="34" charset="-120"/>
              </a:rPr>
              <a:t>Story of Electric Cars in India  —  4 Scenes</a:t>
            </a:r>
            <a:endParaRPr lang="en-US" sz="1600" dirty="0"/>
          </a:p>
        </p:txBody>
      </p:sp>
      <p:sp>
        <p:nvSpPr>
          <p:cNvPr id="5" name="Shape 3"/>
          <p:cNvSpPr/>
          <p:nvPr/>
        </p:nvSpPr>
        <p:spPr>
          <a:xfrm>
            <a:off x="274320" y="1600200"/>
            <a:ext cx="4206240" cy="1463040"/>
          </a:xfrm>
          <a:prstGeom prst="roundRect">
            <a:avLst>
              <a:gd name="adj" fmla="val 6250"/>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384048" y="1709928"/>
            <a:ext cx="457200" cy="457200"/>
          </a:xfrm>
          <a:prstGeom prst="ellipse">
            <a:avLst/>
          </a:prstGeom>
          <a:solidFill>
            <a:srgbClr val="7C3AED"/>
          </a:solidFill>
          <a:ln w="12700">
            <a:solidFill>
              <a:srgbClr val="7C3AED"/>
            </a:solidFill>
            <a:prstDash val="solid"/>
          </a:ln>
        </p:spPr>
      </p:sp>
      <p:sp>
        <p:nvSpPr>
          <p:cNvPr id="7" name="Text 5"/>
          <p:cNvSpPr/>
          <p:nvPr/>
        </p:nvSpPr>
        <p:spPr>
          <a:xfrm>
            <a:off x="384048" y="1709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p:nvPr/>
        </p:nvSpPr>
        <p:spPr>
          <a:xfrm>
            <a:off x="932688" y="1709928"/>
            <a:ext cx="3383280" cy="36576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Different Brands &amp; No. of Models</a:t>
            </a:r>
            <a:endParaRPr lang="en-US" sz="1300" dirty="0"/>
          </a:p>
        </p:txBody>
      </p:sp>
      <p:sp>
        <p:nvSpPr>
          <p:cNvPr id="9" name="Text 7"/>
          <p:cNvSpPr/>
          <p:nvPr/>
        </p:nvSpPr>
        <p:spPr>
          <a:xfrm>
            <a:off x="384048" y="2130552"/>
            <a:ext cx="3931920" cy="8229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Treemap showing all EV brands and how many models each brand offers in India</a:t>
            </a:r>
            <a:endParaRPr lang="en-US" sz="1200" dirty="0"/>
          </a:p>
        </p:txBody>
      </p:sp>
      <p:sp>
        <p:nvSpPr>
          <p:cNvPr id="10" name="Shape 8"/>
          <p:cNvSpPr/>
          <p:nvPr/>
        </p:nvSpPr>
        <p:spPr>
          <a:xfrm>
            <a:off x="4846320" y="1600200"/>
            <a:ext cx="4206240" cy="1463040"/>
          </a:xfrm>
          <a:prstGeom prst="roundRect">
            <a:avLst>
              <a:gd name="adj" fmla="val 6250"/>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956048" y="1709928"/>
            <a:ext cx="457200" cy="457200"/>
          </a:xfrm>
          <a:prstGeom prst="ellipse">
            <a:avLst/>
          </a:prstGeom>
          <a:solidFill>
            <a:srgbClr val="7C3AED"/>
          </a:solidFill>
          <a:ln w="12700">
            <a:solidFill>
              <a:srgbClr val="7C3AED"/>
            </a:solidFill>
            <a:prstDash val="solid"/>
          </a:ln>
        </p:spPr>
      </p:sp>
      <p:sp>
        <p:nvSpPr>
          <p:cNvPr id="12" name="Text 10"/>
          <p:cNvSpPr/>
          <p:nvPr/>
        </p:nvSpPr>
        <p:spPr>
          <a:xfrm>
            <a:off x="4956048" y="1709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p:nvPr/>
        </p:nvSpPr>
        <p:spPr>
          <a:xfrm>
            <a:off x="5504688" y="1709928"/>
            <a:ext cx="3383280" cy="36576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Price Range of Electric Cars in India</a:t>
            </a:r>
            <a:endParaRPr lang="en-US" sz="1300" dirty="0"/>
          </a:p>
        </p:txBody>
      </p:sp>
      <p:sp>
        <p:nvSpPr>
          <p:cNvPr id="14" name="Text 12"/>
          <p:cNvSpPr/>
          <p:nvPr/>
        </p:nvSpPr>
        <p:spPr>
          <a:xfrm>
            <a:off x="4956048" y="2130552"/>
            <a:ext cx="3931920" cy="8229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Bar chart comparing price/range of different EV brands available in India</a:t>
            </a:r>
            <a:endParaRPr lang="en-US" sz="1200" dirty="0"/>
          </a:p>
        </p:txBody>
      </p:sp>
      <p:sp>
        <p:nvSpPr>
          <p:cNvPr id="15" name="Shape 13"/>
          <p:cNvSpPr/>
          <p:nvPr/>
        </p:nvSpPr>
        <p:spPr>
          <a:xfrm>
            <a:off x="274320" y="3246120"/>
            <a:ext cx="4206240" cy="1463040"/>
          </a:xfrm>
          <a:prstGeom prst="roundRect">
            <a:avLst>
              <a:gd name="adj" fmla="val 6250"/>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384048" y="3355848"/>
            <a:ext cx="457200" cy="457200"/>
          </a:xfrm>
          <a:prstGeom prst="ellipse">
            <a:avLst/>
          </a:prstGeom>
          <a:solidFill>
            <a:srgbClr val="7C3AED"/>
          </a:solidFill>
          <a:ln w="12700">
            <a:solidFill>
              <a:srgbClr val="7C3AED"/>
            </a:solidFill>
            <a:prstDash val="solid"/>
          </a:ln>
        </p:spPr>
      </p:sp>
      <p:sp>
        <p:nvSpPr>
          <p:cNvPr id="17" name="Text 15"/>
          <p:cNvSpPr/>
          <p:nvPr/>
        </p:nvSpPr>
        <p:spPr>
          <a:xfrm>
            <a:off x="384048" y="3355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6"/>
          <p:cNvSpPr/>
          <p:nvPr/>
        </p:nvSpPr>
        <p:spPr>
          <a:xfrm>
            <a:off x="932688" y="3355848"/>
            <a:ext cx="3383280" cy="36576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Charging Stations by Region &amp; Type</a:t>
            </a:r>
            <a:endParaRPr lang="en-US" sz="1300" dirty="0"/>
          </a:p>
        </p:txBody>
      </p:sp>
      <p:sp>
        <p:nvSpPr>
          <p:cNvPr id="19" name="Text 17"/>
          <p:cNvSpPr/>
          <p:nvPr/>
        </p:nvSpPr>
        <p:spPr>
          <a:xfrm>
            <a:off x="384048" y="3776472"/>
            <a:ext cx="3931920" cy="8229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Bar chart showing state-wise charging station count by type across India</a:t>
            </a:r>
            <a:endParaRPr lang="en-US" sz="1200" dirty="0"/>
          </a:p>
        </p:txBody>
      </p:sp>
      <p:sp>
        <p:nvSpPr>
          <p:cNvPr id="20" name="Shape 18"/>
          <p:cNvSpPr/>
          <p:nvPr/>
        </p:nvSpPr>
        <p:spPr>
          <a:xfrm>
            <a:off x="4846320" y="3246120"/>
            <a:ext cx="4206240" cy="1463040"/>
          </a:xfrm>
          <a:prstGeom prst="roundRect">
            <a:avLst>
              <a:gd name="adj" fmla="val 6250"/>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956048" y="3355848"/>
            <a:ext cx="457200" cy="457200"/>
          </a:xfrm>
          <a:prstGeom prst="ellipse">
            <a:avLst/>
          </a:prstGeom>
          <a:solidFill>
            <a:srgbClr val="7C3AED"/>
          </a:solidFill>
          <a:ln w="12700">
            <a:solidFill>
              <a:srgbClr val="7C3AED"/>
            </a:solidFill>
            <a:prstDash val="solid"/>
          </a:ln>
        </p:spPr>
      </p:sp>
      <p:sp>
        <p:nvSpPr>
          <p:cNvPr id="22" name="Text 20"/>
          <p:cNvSpPr/>
          <p:nvPr/>
        </p:nvSpPr>
        <p:spPr>
          <a:xfrm>
            <a:off x="4956048" y="3355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1"/>
          <p:cNvSpPr/>
          <p:nvPr/>
        </p:nvSpPr>
        <p:spPr>
          <a:xfrm>
            <a:off x="5504688" y="3355848"/>
            <a:ext cx="3383280" cy="36576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Charging Stations Map of India</a:t>
            </a:r>
            <a:endParaRPr lang="en-US" sz="1300" dirty="0"/>
          </a:p>
        </p:txBody>
      </p:sp>
      <p:sp>
        <p:nvSpPr>
          <p:cNvPr id="24" name="Text 22"/>
          <p:cNvSpPr/>
          <p:nvPr/>
        </p:nvSpPr>
        <p:spPr>
          <a:xfrm>
            <a:off x="4956048" y="3776472"/>
            <a:ext cx="3931920" cy="8229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Geographic map showing locations of all EV charging stations across India</a:t>
            </a:r>
            <a:endParaRPr lang="en-US" sz="1200" dirty="0"/>
          </a:p>
        </p:txBody>
      </p:sp>
      <p:pic>
        <p:nvPicPr>
          <p:cNvPr id="25" name="Image 0" descr="/home/claude/images/img_story.jpg">    </p:cNvPr>
          <p:cNvPicPr>
            <a:picLocks noChangeAspect="1"/>
          </p:cNvPicPr>
          <p:nvPr/>
        </p:nvPicPr>
        <p:blipFill>
          <a:blip r:embed="rId1"/>
          <a:srcRect l="0" r="0" t="0" b="0"/>
          <a:stretch/>
        </p:blipFill>
        <p:spPr>
          <a:xfrm>
            <a:off x="274320" y="4617720"/>
            <a:ext cx="8595360" cy="4389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B8A6"/>
          </a:solidFill>
          <a:ln w="12700">
            <a:solidFill>
              <a:srgbClr val="14B8A6"/>
            </a:solidFill>
            <a:prstDash val="solid"/>
          </a:ln>
        </p:spPr>
      </p:sp>
      <p:sp>
        <p:nvSpPr>
          <p:cNvPr id="3" name="Text 1"/>
          <p:cNvSpPr/>
          <p:nvPr/>
        </p:nvSpPr>
        <p:spPr>
          <a:xfrm>
            <a:off x="365760" y="109728"/>
            <a:ext cx="8412480" cy="694944"/>
          </a:xfrm>
          <a:prstGeom prst="rect">
            <a:avLst/>
          </a:prstGeom>
          <a:noFill/>
          <a:ln/>
        </p:spPr>
        <p:txBody>
          <a:bodyPr wrap="square" lIns="0" tIns="0" rIns="0" bIns="0" rtlCol="0" anchor="ctr"/>
          <a:lstStyle/>
          <a:p>
            <a:pPr algn="l" indent="0" marL="0">
              <a:buNone/>
            </a:pPr>
            <a:r>
              <a:rPr lang="en-US" sz="2600" b="1" dirty="0">
                <a:solidFill>
                  <a:srgbClr val="0D1B2A"/>
                </a:solidFill>
                <a:latin typeface="Cambria" pitchFamily="34" charset="0"/>
                <a:ea typeface="Cambria" pitchFamily="34" charset="-122"/>
                <a:cs typeface="Cambria" pitchFamily="34" charset="-120"/>
              </a:rPr>
              <a:t>WEB INTEGRATION — E-CarStart</a:t>
            </a:r>
            <a:endParaRPr lang="en-US" sz="2600" dirty="0"/>
          </a:p>
        </p:txBody>
      </p:sp>
      <p:pic>
        <p:nvPicPr>
          <p:cNvPr id="4" name="Image 0" descr="/home/claude/images/img_home.jpg">    </p:cNvPr>
          <p:cNvPicPr>
            <a:picLocks noChangeAspect="1"/>
          </p:cNvPicPr>
          <p:nvPr/>
        </p:nvPicPr>
        <p:blipFill>
          <a:blip r:embed="rId1"/>
          <a:srcRect l="0" r="0" t="0" b="0"/>
          <a:stretch/>
        </p:blipFill>
        <p:spPr>
          <a:xfrm>
            <a:off x="274320" y="960120"/>
            <a:ext cx="5303520" cy="4023360"/>
          </a:xfrm>
          <a:prstGeom prst="rect">
            <a:avLst/>
          </a:prstGeom>
        </p:spPr>
      </p:pic>
      <p:sp>
        <p:nvSpPr>
          <p:cNvPr id="5" name="Text 2"/>
          <p:cNvSpPr/>
          <p:nvPr/>
        </p:nvSpPr>
        <p:spPr>
          <a:xfrm>
            <a:off x="5760720" y="960120"/>
            <a:ext cx="3108960" cy="347472"/>
          </a:xfrm>
          <a:prstGeom prst="rect">
            <a:avLst/>
          </a:prstGeom>
          <a:noFill/>
          <a:ln/>
        </p:spPr>
        <p:txBody>
          <a:bodyPr wrap="square" lIns="0" tIns="0" rIns="0" bIns="0" rtlCol="0" anchor="ctr"/>
          <a:lstStyle/>
          <a:p>
            <a:pPr indent="0" marL="0">
              <a:buNone/>
            </a:pPr>
            <a:r>
              <a:rPr lang="en-US" sz="1400" b="1" dirty="0">
                <a:solidFill>
                  <a:srgbClr val="14B8A6"/>
                </a:solidFill>
                <a:latin typeface="Cambria" pitchFamily="34" charset="0"/>
                <a:ea typeface="Cambria" pitchFamily="34" charset="-122"/>
                <a:cs typeface="Cambria" pitchFamily="34" charset="-120"/>
              </a:rPr>
              <a:t>6 Pages:</a:t>
            </a:r>
            <a:endParaRPr lang="en-US" sz="1400" dirty="0"/>
          </a:p>
        </p:txBody>
      </p:sp>
      <p:sp>
        <p:nvSpPr>
          <p:cNvPr id="6" name="Shape 3"/>
          <p:cNvSpPr/>
          <p:nvPr/>
        </p:nvSpPr>
        <p:spPr>
          <a:xfrm>
            <a:off x="5760720" y="1371600"/>
            <a:ext cx="3108960" cy="420624"/>
          </a:xfrm>
          <a:prstGeom prst="roundRect">
            <a:avLst>
              <a:gd name="adj" fmla="val 17391"/>
            </a:avLst>
          </a:prstGeom>
          <a:solidFill>
            <a:srgbClr val="0D9488">
              <a:alpha val="20000"/>
            </a:srgbClr>
          </a:solidFill>
          <a:ln w="12700">
            <a:solidFill>
              <a:srgbClr val="0D9488"/>
            </a:solidFill>
            <a:prstDash val="solid"/>
          </a:ln>
        </p:spPr>
      </p:sp>
      <p:sp>
        <p:nvSpPr>
          <p:cNvPr id="7" name="Text 4"/>
          <p:cNvSpPr/>
          <p:nvPr/>
        </p:nvSpPr>
        <p:spPr>
          <a:xfrm>
            <a:off x="5760720" y="1371600"/>
            <a:ext cx="31089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Home</a:t>
            </a:r>
            <a:endParaRPr lang="en-US" sz="1300" dirty="0"/>
          </a:p>
        </p:txBody>
      </p:sp>
      <p:sp>
        <p:nvSpPr>
          <p:cNvPr id="8" name="Shape 5"/>
          <p:cNvSpPr/>
          <p:nvPr/>
        </p:nvSpPr>
        <p:spPr>
          <a:xfrm>
            <a:off x="5760720" y="1883664"/>
            <a:ext cx="3108960" cy="420624"/>
          </a:xfrm>
          <a:prstGeom prst="roundRect">
            <a:avLst>
              <a:gd name="adj" fmla="val 17391"/>
            </a:avLst>
          </a:prstGeom>
          <a:solidFill>
            <a:srgbClr val="0D9488">
              <a:alpha val="20000"/>
            </a:srgbClr>
          </a:solidFill>
          <a:ln w="12700">
            <a:solidFill>
              <a:srgbClr val="0D9488"/>
            </a:solidFill>
            <a:prstDash val="solid"/>
          </a:ln>
        </p:spPr>
      </p:sp>
      <p:sp>
        <p:nvSpPr>
          <p:cNvPr id="9" name="Text 6"/>
          <p:cNvSpPr/>
          <p:nvPr/>
        </p:nvSpPr>
        <p:spPr>
          <a:xfrm>
            <a:off x="5760720" y="1883664"/>
            <a:ext cx="31089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About</a:t>
            </a:r>
            <a:endParaRPr lang="en-US" sz="1300" dirty="0"/>
          </a:p>
        </p:txBody>
      </p:sp>
      <p:sp>
        <p:nvSpPr>
          <p:cNvPr id="10" name="Shape 7"/>
          <p:cNvSpPr/>
          <p:nvPr/>
        </p:nvSpPr>
        <p:spPr>
          <a:xfrm>
            <a:off x="5760720" y="2395728"/>
            <a:ext cx="3108960" cy="420624"/>
          </a:xfrm>
          <a:prstGeom prst="roundRect">
            <a:avLst>
              <a:gd name="adj" fmla="val 17391"/>
            </a:avLst>
          </a:prstGeom>
          <a:solidFill>
            <a:srgbClr val="0D9488">
              <a:alpha val="20000"/>
            </a:srgbClr>
          </a:solidFill>
          <a:ln w="12700">
            <a:solidFill>
              <a:srgbClr val="0D9488"/>
            </a:solidFill>
            <a:prstDash val="solid"/>
          </a:ln>
        </p:spPr>
      </p:sp>
      <p:sp>
        <p:nvSpPr>
          <p:cNvPr id="11" name="Text 8"/>
          <p:cNvSpPr/>
          <p:nvPr/>
        </p:nvSpPr>
        <p:spPr>
          <a:xfrm>
            <a:off x="5760720" y="2395728"/>
            <a:ext cx="31089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12" name="Shape 9"/>
          <p:cNvSpPr/>
          <p:nvPr/>
        </p:nvSpPr>
        <p:spPr>
          <a:xfrm>
            <a:off x="5760720" y="2907792"/>
            <a:ext cx="3108960" cy="420624"/>
          </a:xfrm>
          <a:prstGeom prst="roundRect">
            <a:avLst>
              <a:gd name="adj" fmla="val 17391"/>
            </a:avLst>
          </a:prstGeom>
          <a:solidFill>
            <a:srgbClr val="0D9488">
              <a:alpha val="20000"/>
            </a:srgbClr>
          </a:solidFill>
          <a:ln w="12700">
            <a:solidFill>
              <a:srgbClr val="0D9488"/>
            </a:solidFill>
            <a:prstDash val="solid"/>
          </a:ln>
        </p:spPr>
      </p:sp>
      <p:sp>
        <p:nvSpPr>
          <p:cNvPr id="13" name="Text 10"/>
          <p:cNvSpPr/>
          <p:nvPr/>
        </p:nvSpPr>
        <p:spPr>
          <a:xfrm>
            <a:off x="5760720" y="2907792"/>
            <a:ext cx="31089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Story</a:t>
            </a:r>
            <a:endParaRPr lang="en-US" sz="1300" dirty="0"/>
          </a:p>
        </p:txBody>
      </p:sp>
      <p:sp>
        <p:nvSpPr>
          <p:cNvPr id="14" name="Shape 11"/>
          <p:cNvSpPr/>
          <p:nvPr/>
        </p:nvSpPr>
        <p:spPr>
          <a:xfrm>
            <a:off x="5760720" y="3419856"/>
            <a:ext cx="3108960" cy="420624"/>
          </a:xfrm>
          <a:prstGeom prst="roundRect">
            <a:avLst>
              <a:gd name="adj" fmla="val 17391"/>
            </a:avLst>
          </a:prstGeom>
          <a:solidFill>
            <a:srgbClr val="0D9488">
              <a:alpha val="20000"/>
            </a:srgbClr>
          </a:solidFill>
          <a:ln w="12700">
            <a:solidFill>
              <a:srgbClr val="0D9488"/>
            </a:solidFill>
            <a:prstDash val="solid"/>
          </a:ln>
        </p:spPr>
      </p:sp>
      <p:sp>
        <p:nvSpPr>
          <p:cNvPr id="15" name="Text 12"/>
          <p:cNvSpPr/>
          <p:nvPr/>
        </p:nvSpPr>
        <p:spPr>
          <a:xfrm>
            <a:off x="5760720" y="3419856"/>
            <a:ext cx="31089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Team</a:t>
            </a:r>
            <a:endParaRPr lang="en-US" sz="1300" dirty="0"/>
          </a:p>
        </p:txBody>
      </p:sp>
      <p:sp>
        <p:nvSpPr>
          <p:cNvPr id="16" name="Shape 13"/>
          <p:cNvSpPr/>
          <p:nvPr/>
        </p:nvSpPr>
        <p:spPr>
          <a:xfrm>
            <a:off x="5760720" y="3931920"/>
            <a:ext cx="3108960" cy="420624"/>
          </a:xfrm>
          <a:prstGeom prst="roundRect">
            <a:avLst>
              <a:gd name="adj" fmla="val 17391"/>
            </a:avLst>
          </a:prstGeom>
          <a:solidFill>
            <a:srgbClr val="0D9488">
              <a:alpha val="20000"/>
            </a:srgbClr>
          </a:solidFill>
          <a:ln w="12700">
            <a:solidFill>
              <a:srgbClr val="0D9488"/>
            </a:solidFill>
            <a:prstDash val="solid"/>
          </a:ln>
        </p:spPr>
      </p:sp>
      <p:sp>
        <p:nvSpPr>
          <p:cNvPr id="17" name="Text 14"/>
          <p:cNvSpPr/>
          <p:nvPr/>
        </p:nvSpPr>
        <p:spPr>
          <a:xfrm>
            <a:off x="5760720" y="3931920"/>
            <a:ext cx="31089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Contact</a:t>
            </a:r>
            <a:endParaRPr lang="en-US" sz="1300" dirty="0"/>
          </a:p>
        </p:txBody>
      </p:sp>
      <p:sp>
        <p:nvSpPr>
          <p:cNvPr id="18" name="Shape 15"/>
          <p:cNvSpPr/>
          <p:nvPr/>
        </p:nvSpPr>
        <p:spPr>
          <a:xfrm>
            <a:off x="5760720" y="4572000"/>
            <a:ext cx="3108960" cy="457200"/>
          </a:xfrm>
          <a:prstGeom prst="roundRect">
            <a:avLst>
              <a:gd name="adj" fmla="val 16000"/>
            </a:avLst>
          </a:prstGeom>
          <a:solidFill>
            <a:srgbClr val="FBBF24"/>
          </a:solidFill>
          <a:ln w="12700">
            <a:solidFill>
              <a:srgbClr val="FBBF24"/>
            </a:solidFill>
            <a:prstDash val="solid"/>
          </a:ln>
        </p:spPr>
      </p:sp>
      <p:sp>
        <p:nvSpPr>
          <p:cNvPr id="19" name="Text 16"/>
          <p:cNvSpPr/>
          <p:nvPr/>
        </p:nvSpPr>
        <p:spPr>
          <a:xfrm>
            <a:off x="5760720" y="4572000"/>
            <a:ext cx="3108960" cy="45720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localhost:5000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365760" y="137160"/>
            <a:ext cx="8412480" cy="73152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PERFORMANCE TESTING</a:t>
            </a:r>
            <a:endParaRPr lang="en-US" sz="2800" dirty="0"/>
          </a:p>
        </p:txBody>
      </p:sp>
      <p:sp>
        <p:nvSpPr>
          <p:cNvPr id="4" name="Shape 2"/>
          <p:cNvSpPr/>
          <p:nvPr/>
        </p:nvSpPr>
        <p:spPr>
          <a:xfrm>
            <a:off x="274320" y="1143000"/>
            <a:ext cx="2011680" cy="2011680"/>
          </a:xfrm>
          <a:prstGeom prst="roundRect">
            <a:avLst>
              <a:gd name="adj" fmla="val 5455"/>
            </a:avLst>
          </a:prstGeom>
          <a:solidFill>
            <a:srgbClr val="FFFFFF"/>
          </a:solidFill>
          <a:ln w="12700">
            <a:solidFill>
              <a:srgbClr val="0D948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274320" y="1261872"/>
            <a:ext cx="2011680" cy="731520"/>
          </a:xfrm>
          <a:prstGeom prst="rect">
            <a:avLst/>
          </a:prstGeom>
          <a:noFill/>
          <a:ln/>
        </p:spPr>
        <p:txBody>
          <a:bodyPr wrap="square" lIns="0" tIns="0" rIns="0" bIns="0" rtlCol="0" anchor="ctr"/>
          <a:lstStyle/>
          <a:p>
            <a:pPr algn="ctr" indent="0" marL="0">
              <a:buNone/>
            </a:pPr>
            <a:r>
              <a:rPr lang="en-US" sz="2200" b="1" dirty="0">
                <a:solidFill>
                  <a:srgbClr val="0D9488"/>
                </a:solidFill>
                <a:latin typeface="Cambria" pitchFamily="34" charset="0"/>
                <a:ea typeface="Cambria" pitchFamily="34" charset="-122"/>
                <a:cs typeface="Cambria" pitchFamily="34" charset="-120"/>
              </a:rPr>
              <a:t>1,03,665</a:t>
            </a:r>
            <a:endParaRPr lang="en-US" sz="2200" dirty="0"/>
          </a:p>
        </p:txBody>
      </p:sp>
      <p:sp>
        <p:nvSpPr>
          <p:cNvPr id="6" name="Text 4"/>
          <p:cNvSpPr/>
          <p:nvPr/>
        </p:nvSpPr>
        <p:spPr>
          <a:xfrm>
            <a:off x="274320" y="1993392"/>
            <a:ext cx="2011680" cy="36576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Total Rows in DB</a:t>
            </a:r>
            <a:endParaRPr lang="en-US" sz="1200" dirty="0"/>
          </a:p>
        </p:txBody>
      </p:sp>
      <p:sp>
        <p:nvSpPr>
          <p:cNvPr id="7" name="Text 5"/>
          <p:cNvSpPr/>
          <p:nvPr/>
        </p:nvSpPr>
        <p:spPr>
          <a:xfrm>
            <a:off x="274320" y="2359152"/>
            <a:ext cx="2011680" cy="548640"/>
          </a:xfrm>
          <a:prstGeom prst="rect">
            <a:avLst/>
          </a:prstGeom>
          <a:noFill/>
          <a:ln/>
        </p:spPr>
        <p:txBody>
          <a:bodyPr wrap="square" lIns="50800" tIns="50800" rIns="50800" bIns="5080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4 Tables</a:t>
            </a:r>
            <a:endParaRPr lang="en-US" sz="1000" dirty="0"/>
          </a:p>
        </p:txBody>
      </p:sp>
      <p:sp>
        <p:nvSpPr>
          <p:cNvPr id="8" name="Shape 6"/>
          <p:cNvSpPr/>
          <p:nvPr/>
        </p:nvSpPr>
        <p:spPr>
          <a:xfrm>
            <a:off x="2450592" y="1143000"/>
            <a:ext cx="2011680" cy="2011680"/>
          </a:xfrm>
          <a:prstGeom prst="roundRect">
            <a:avLst>
              <a:gd name="adj" fmla="val 5455"/>
            </a:avLst>
          </a:prstGeom>
          <a:solidFill>
            <a:srgbClr val="FFFFFF"/>
          </a:solidFill>
          <a:ln w="12700">
            <a:solidFill>
              <a:srgbClr val="059669"/>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2450592" y="1261872"/>
            <a:ext cx="2011680" cy="731520"/>
          </a:xfrm>
          <a:prstGeom prst="rect">
            <a:avLst/>
          </a:prstGeom>
          <a:noFill/>
          <a:ln/>
        </p:spPr>
        <p:txBody>
          <a:bodyPr wrap="square" lIns="0" tIns="0" rIns="0" bIns="0" rtlCol="0" anchor="ctr"/>
          <a:lstStyle/>
          <a:p>
            <a:pPr algn="ctr" indent="0" marL="0">
              <a:buNone/>
            </a:pPr>
            <a:r>
              <a:rPr lang="en-US" sz="3200" b="1" dirty="0">
                <a:solidFill>
                  <a:srgbClr val="059669"/>
                </a:solidFill>
                <a:latin typeface="Cambria" pitchFamily="34" charset="0"/>
                <a:ea typeface="Cambria" pitchFamily="34" charset="-122"/>
                <a:cs typeface="Cambria" pitchFamily="34" charset="-120"/>
              </a:rPr>
              <a:t>4</a:t>
            </a:r>
            <a:endParaRPr lang="en-US" sz="3200" dirty="0"/>
          </a:p>
        </p:txBody>
      </p:sp>
      <p:sp>
        <p:nvSpPr>
          <p:cNvPr id="10" name="Text 8"/>
          <p:cNvSpPr/>
          <p:nvPr/>
        </p:nvSpPr>
        <p:spPr>
          <a:xfrm>
            <a:off x="2450592" y="1993392"/>
            <a:ext cx="2011680" cy="36576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Data Filters</a:t>
            </a:r>
            <a:endParaRPr lang="en-US" sz="1200" dirty="0"/>
          </a:p>
        </p:txBody>
      </p:sp>
      <p:sp>
        <p:nvSpPr>
          <p:cNvPr id="11" name="Text 9"/>
          <p:cNvSpPr/>
          <p:nvPr/>
        </p:nvSpPr>
        <p:spPr>
          <a:xfrm>
            <a:off x="2450592" y="2359152"/>
            <a:ext cx="2011680" cy="548640"/>
          </a:xfrm>
          <a:prstGeom prst="rect">
            <a:avLst/>
          </a:prstGeom>
          <a:noFill/>
          <a:ln/>
        </p:spPr>
        <p:txBody>
          <a:bodyPr wrap="square" lIns="50800" tIns="50800" rIns="50800" bIns="5080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BodyStyle, Brand, PowerTrain, Car</a:t>
            </a:r>
            <a:endParaRPr lang="en-US" sz="1000" dirty="0"/>
          </a:p>
        </p:txBody>
      </p:sp>
      <p:sp>
        <p:nvSpPr>
          <p:cNvPr id="12" name="Shape 10"/>
          <p:cNvSpPr/>
          <p:nvPr/>
        </p:nvSpPr>
        <p:spPr>
          <a:xfrm>
            <a:off x="4626864" y="1143000"/>
            <a:ext cx="2011680" cy="2011680"/>
          </a:xfrm>
          <a:prstGeom prst="roundRect">
            <a:avLst>
              <a:gd name="adj" fmla="val 5455"/>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626864" y="1261872"/>
            <a:ext cx="2011680" cy="731520"/>
          </a:xfrm>
          <a:prstGeom prst="rect">
            <a:avLst/>
          </a:prstGeom>
          <a:noFill/>
          <a:ln/>
        </p:spPr>
        <p:txBody>
          <a:bodyPr wrap="square" lIns="0" tIns="0" rIns="0" bIns="0" rtlCol="0" anchor="ctr"/>
          <a:lstStyle/>
          <a:p>
            <a:pPr algn="ctr" indent="0" marL="0">
              <a:buNone/>
            </a:pPr>
            <a:r>
              <a:rPr lang="en-US" sz="3200" b="1" dirty="0">
                <a:solidFill>
                  <a:srgbClr val="7C3AED"/>
                </a:solidFill>
                <a:latin typeface="Cambria" pitchFamily="34" charset="0"/>
                <a:ea typeface="Cambria" pitchFamily="34" charset="-122"/>
                <a:cs typeface="Cambria" pitchFamily="34" charset="-120"/>
              </a:rPr>
              <a:t>2</a:t>
            </a:r>
            <a:endParaRPr lang="en-US" sz="3200" dirty="0"/>
          </a:p>
        </p:txBody>
      </p:sp>
      <p:sp>
        <p:nvSpPr>
          <p:cNvPr id="14" name="Text 12"/>
          <p:cNvSpPr/>
          <p:nvPr/>
        </p:nvSpPr>
        <p:spPr>
          <a:xfrm>
            <a:off x="4626864" y="1993392"/>
            <a:ext cx="2011680" cy="36576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Calculated Fields</a:t>
            </a:r>
            <a:endParaRPr lang="en-US" sz="1200" dirty="0"/>
          </a:p>
        </p:txBody>
      </p:sp>
      <p:sp>
        <p:nvSpPr>
          <p:cNvPr id="15" name="Text 13"/>
          <p:cNvSpPr/>
          <p:nvPr/>
        </p:nvSpPr>
        <p:spPr>
          <a:xfrm>
            <a:off x="4626864" y="2359152"/>
            <a:ext cx="2011680" cy="548640"/>
          </a:xfrm>
          <a:prstGeom prst="rect">
            <a:avLst/>
          </a:prstGeom>
          <a:noFill/>
          <a:ln/>
        </p:spPr>
        <p:txBody>
          <a:bodyPr wrap="square" lIns="50800" tIns="50800" rIns="50800" bIns="5080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Count, Count_powertrain</a:t>
            </a:r>
            <a:endParaRPr lang="en-US" sz="1000" dirty="0"/>
          </a:p>
        </p:txBody>
      </p:sp>
      <p:sp>
        <p:nvSpPr>
          <p:cNvPr id="16" name="Shape 14"/>
          <p:cNvSpPr/>
          <p:nvPr/>
        </p:nvSpPr>
        <p:spPr>
          <a:xfrm>
            <a:off x="6803136" y="1143000"/>
            <a:ext cx="2011680" cy="2011680"/>
          </a:xfrm>
          <a:prstGeom prst="roundRect">
            <a:avLst>
              <a:gd name="adj" fmla="val 5455"/>
            </a:avLst>
          </a:prstGeom>
          <a:solidFill>
            <a:srgbClr val="FFFFFF"/>
          </a:solidFill>
          <a:ln w="12700">
            <a:solidFill>
              <a:srgbClr val="FBBF24"/>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6803136" y="1261872"/>
            <a:ext cx="2011680" cy="731520"/>
          </a:xfrm>
          <a:prstGeom prst="rect">
            <a:avLst/>
          </a:prstGeom>
          <a:noFill/>
          <a:ln/>
        </p:spPr>
        <p:txBody>
          <a:bodyPr wrap="square" lIns="0" tIns="0" rIns="0" bIns="0" rtlCol="0" anchor="ctr"/>
          <a:lstStyle/>
          <a:p>
            <a:pPr algn="ctr" indent="0" marL="0">
              <a:buNone/>
            </a:pPr>
            <a:r>
              <a:rPr lang="en-US" sz="3200" b="1" dirty="0">
                <a:solidFill>
                  <a:srgbClr val="FBBF24"/>
                </a:solidFill>
                <a:latin typeface="Cambria" pitchFamily="34" charset="0"/>
                <a:ea typeface="Cambria" pitchFamily="34" charset="-122"/>
                <a:cs typeface="Cambria" pitchFamily="34" charset="-120"/>
              </a:rPr>
              <a:t>18</a:t>
            </a:r>
            <a:endParaRPr lang="en-US" sz="3200" dirty="0"/>
          </a:p>
        </p:txBody>
      </p:sp>
      <p:sp>
        <p:nvSpPr>
          <p:cNvPr id="18" name="Text 16"/>
          <p:cNvSpPr/>
          <p:nvPr/>
        </p:nvSpPr>
        <p:spPr>
          <a:xfrm>
            <a:off x="6803136" y="1993392"/>
            <a:ext cx="2011680" cy="36576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Visualizations</a:t>
            </a:r>
            <a:endParaRPr lang="en-US" sz="1200" dirty="0"/>
          </a:p>
        </p:txBody>
      </p:sp>
      <p:sp>
        <p:nvSpPr>
          <p:cNvPr id="19" name="Text 17"/>
          <p:cNvSpPr/>
          <p:nvPr/>
        </p:nvSpPr>
        <p:spPr>
          <a:xfrm>
            <a:off x="6803136" y="2359152"/>
            <a:ext cx="2011680" cy="548640"/>
          </a:xfrm>
          <a:prstGeom prst="rect">
            <a:avLst/>
          </a:prstGeom>
          <a:noFill/>
          <a:ln/>
        </p:spPr>
        <p:txBody>
          <a:bodyPr wrap="square" lIns="50800" tIns="50800" rIns="50800" bIns="5080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Across 2 Dashboards + Story</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3291840"/>
          <a:ext cx="8595360" cy="1737360"/>
        </p:xfrm>
        <a:graphic>
          <a:graphicData uri="http://schemas.openxmlformats.org/drawingml/2006/table">
            <a:tbl>
              <a:tblPr/>
              <a:tblGrid>
                <a:gridCol w="2560320"/>
                <a:gridCol w="603504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Data Rendered to DB</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1,03,665 rows — vehicle_specs(478) + charging_stations(1,342) + ev_sales(5,000) + global_market(96,845)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Data Filters Used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 — BodyStyle, Brand, PowerTrain, Car Filter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Calculated Fields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 — Count, Count_powertrain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Total Visualizations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18 Graphs across 2 dashboards and 1 story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sp>
      <p:sp>
        <p:nvSpPr>
          <p:cNvPr id="3" name="Text 1"/>
          <p:cNvSpPr/>
          <p:nvPr/>
        </p:nvSpPr>
        <p:spPr>
          <a:xfrm>
            <a:off x="365760" y="137160"/>
            <a:ext cx="8412480"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PROJECT STRUCTURE &amp; TECH STACK</a:t>
            </a:r>
            <a:endParaRPr lang="en-US" sz="2600" dirty="0"/>
          </a:p>
        </p:txBody>
      </p:sp>
      <p:sp>
        <p:nvSpPr>
          <p:cNvPr id="4" name="Shape 2"/>
          <p:cNvSpPr/>
          <p:nvPr/>
        </p:nvSpPr>
        <p:spPr>
          <a:xfrm>
            <a:off x="274320" y="1097280"/>
            <a:ext cx="4114800" cy="804672"/>
          </a:xfrm>
          <a:prstGeom prst="roundRect">
            <a:avLst>
              <a:gd name="adj" fmla="val 9091"/>
            </a:avLst>
          </a:prstGeom>
          <a:solidFill>
            <a:srgbClr val="F8F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65760" y="128016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6" name="Text 4"/>
          <p:cNvSpPr/>
          <p:nvPr/>
        </p:nvSpPr>
        <p:spPr>
          <a:xfrm>
            <a:off x="822960" y="1170432"/>
            <a:ext cx="3383280" cy="329184"/>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01_Dataset</a:t>
            </a:r>
            <a:endParaRPr lang="en-US" sz="1200" dirty="0"/>
          </a:p>
        </p:txBody>
      </p:sp>
      <p:sp>
        <p:nvSpPr>
          <p:cNvPr id="7" name="Text 5"/>
          <p:cNvSpPr/>
          <p:nvPr/>
        </p:nvSpPr>
        <p:spPr>
          <a:xfrm>
            <a:off x="822960" y="1499616"/>
            <a:ext cx="338328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Raw CSV Files</a:t>
            </a:r>
            <a:endParaRPr lang="en-US" sz="1100" dirty="0"/>
          </a:p>
        </p:txBody>
      </p:sp>
      <p:sp>
        <p:nvSpPr>
          <p:cNvPr id="8" name="Shape 6"/>
          <p:cNvSpPr/>
          <p:nvPr/>
        </p:nvSpPr>
        <p:spPr>
          <a:xfrm>
            <a:off x="274320" y="2057400"/>
            <a:ext cx="4114800" cy="804672"/>
          </a:xfrm>
          <a:prstGeom prst="roundRect">
            <a:avLst>
              <a:gd name="adj" fmla="val 9091"/>
            </a:avLst>
          </a:prstGeom>
          <a:solidFill>
            <a:srgbClr val="F8F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65760" y="224028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0" name="Text 8"/>
          <p:cNvSpPr/>
          <p:nvPr/>
        </p:nvSpPr>
        <p:spPr>
          <a:xfrm>
            <a:off x="822960" y="2130552"/>
            <a:ext cx="3383280" cy="329184"/>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02_Database</a:t>
            </a:r>
            <a:endParaRPr lang="en-US" sz="1200" dirty="0"/>
          </a:p>
        </p:txBody>
      </p:sp>
      <p:sp>
        <p:nvSpPr>
          <p:cNvPr id="11" name="Text 9"/>
          <p:cNvSpPr/>
          <p:nvPr/>
        </p:nvSpPr>
        <p:spPr>
          <a:xfrm>
            <a:off x="822960" y="2459736"/>
            <a:ext cx="338328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create_database.py + ev_analytics.db</a:t>
            </a:r>
            <a:endParaRPr lang="en-US" sz="1100" dirty="0"/>
          </a:p>
        </p:txBody>
      </p:sp>
      <p:sp>
        <p:nvSpPr>
          <p:cNvPr id="12" name="Shape 10"/>
          <p:cNvSpPr/>
          <p:nvPr/>
        </p:nvSpPr>
        <p:spPr>
          <a:xfrm>
            <a:off x="274320" y="3017520"/>
            <a:ext cx="4114800" cy="804672"/>
          </a:xfrm>
          <a:prstGeom prst="roundRect">
            <a:avLst>
              <a:gd name="adj" fmla="val 9091"/>
            </a:avLst>
          </a:prstGeom>
          <a:solidFill>
            <a:srgbClr val="F8F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365760" y="320040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4" name="Text 12"/>
          <p:cNvSpPr/>
          <p:nvPr/>
        </p:nvSpPr>
        <p:spPr>
          <a:xfrm>
            <a:off x="822960" y="3090672"/>
            <a:ext cx="3383280" cy="329184"/>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03_Data_Preparation</a:t>
            </a:r>
            <a:endParaRPr lang="en-US" sz="1200" dirty="0"/>
          </a:p>
        </p:txBody>
      </p:sp>
      <p:sp>
        <p:nvSpPr>
          <p:cNvPr id="15" name="Text 13"/>
          <p:cNvSpPr/>
          <p:nvPr/>
        </p:nvSpPr>
        <p:spPr>
          <a:xfrm>
            <a:off x="822960" y="3419856"/>
            <a:ext cx="338328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data_cleaning.py + Cleaned CSV</a:t>
            </a:r>
            <a:endParaRPr lang="en-US" sz="1100" dirty="0"/>
          </a:p>
        </p:txBody>
      </p:sp>
      <p:sp>
        <p:nvSpPr>
          <p:cNvPr id="16" name="Shape 14"/>
          <p:cNvSpPr/>
          <p:nvPr/>
        </p:nvSpPr>
        <p:spPr>
          <a:xfrm>
            <a:off x="274320" y="3977640"/>
            <a:ext cx="4114800" cy="804672"/>
          </a:xfrm>
          <a:prstGeom prst="roundRect">
            <a:avLst>
              <a:gd name="adj" fmla="val 9091"/>
            </a:avLst>
          </a:prstGeom>
          <a:solidFill>
            <a:srgbClr val="F8F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365760" y="416052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8" name="Text 16"/>
          <p:cNvSpPr/>
          <p:nvPr/>
        </p:nvSpPr>
        <p:spPr>
          <a:xfrm>
            <a:off x="822960" y="4050792"/>
            <a:ext cx="3383280" cy="329184"/>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04_Tableau</a:t>
            </a:r>
            <a:endParaRPr lang="en-US" sz="1200" dirty="0"/>
          </a:p>
        </p:txBody>
      </p:sp>
      <p:sp>
        <p:nvSpPr>
          <p:cNvPr id="19" name="Text 17"/>
          <p:cNvSpPr/>
          <p:nvPr/>
        </p:nvSpPr>
        <p:spPr>
          <a:xfrm>
            <a:off x="822960" y="4379976"/>
            <a:ext cx="338328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Tableau Workbook Files</a:t>
            </a:r>
            <a:endParaRPr lang="en-US" sz="1100" dirty="0"/>
          </a:p>
        </p:txBody>
      </p:sp>
      <p:sp>
        <p:nvSpPr>
          <p:cNvPr id="20" name="Shape 18"/>
          <p:cNvSpPr/>
          <p:nvPr/>
        </p:nvSpPr>
        <p:spPr>
          <a:xfrm>
            <a:off x="4846320" y="1097280"/>
            <a:ext cx="4114800" cy="804672"/>
          </a:xfrm>
          <a:prstGeom prst="roundRect">
            <a:avLst>
              <a:gd name="adj" fmla="val 9091"/>
            </a:avLst>
          </a:prstGeom>
          <a:solidFill>
            <a:srgbClr val="F8F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937760" y="128016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2" name="Text 20"/>
          <p:cNvSpPr/>
          <p:nvPr/>
        </p:nvSpPr>
        <p:spPr>
          <a:xfrm>
            <a:off x="5394960" y="1170432"/>
            <a:ext cx="3383280" cy="329184"/>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05_Documentation</a:t>
            </a:r>
            <a:endParaRPr lang="en-US" sz="1200" dirty="0"/>
          </a:p>
        </p:txBody>
      </p:sp>
      <p:sp>
        <p:nvSpPr>
          <p:cNvPr id="23" name="Text 21"/>
          <p:cNvSpPr/>
          <p:nvPr/>
        </p:nvSpPr>
        <p:spPr>
          <a:xfrm>
            <a:off x="5394960" y="1499616"/>
            <a:ext cx="338328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Final Project Report (DOCX)</a:t>
            </a:r>
            <a:endParaRPr lang="en-US" sz="1100" dirty="0"/>
          </a:p>
        </p:txBody>
      </p:sp>
      <p:sp>
        <p:nvSpPr>
          <p:cNvPr id="24" name="Shape 22"/>
          <p:cNvSpPr/>
          <p:nvPr/>
        </p:nvSpPr>
        <p:spPr>
          <a:xfrm>
            <a:off x="4846320" y="2057400"/>
            <a:ext cx="4114800" cy="804672"/>
          </a:xfrm>
          <a:prstGeom prst="roundRect">
            <a:avLst>
              <a:gd name="adj" fmla="val 9091"/>
            </a:avLst>
          </a:prstGeom>
          <a:solidFill>
            <a:srgbClr val="F8F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5" name="Text 23"/>
          <p:cNvSpPr/>
          <p:nvPr/>
        </p:nvSpPr>
        <p:spPr>
          <a:xfrm>
            <a:off x="4937760" y="224028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6" name="Text 24"/>
          <p:cNvSpPr/>
          <p:nvPr/>
        </p:nvSpPr>
        <p:spPr>
          <a:xfrm>
            <a:off x="5394960" y="2130552"/>
            <a:ext cx="3383280" cy="329184"/>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06_Web_Integration</a:t>
            </a:r>
            <a:endParaRPr lang="en-US" sz="1200" dirty="0"/>
          </a:p>
        </p:txBody>
      </p:sp>
      <p:sp>
        <p:nvSpPr>
          <p:cNvPr id="27" name="Text 25"/>
          <p:cNvSpPr/>
          <p:nvPr/>
        </p:nvSpPr>
        <p:spPr>
          <a:xfrm>
            <a:off x="5394960" y="2459736"/>
            <a:ext cx="338328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app.py + index.html + style.css</a:t>
            </a:r>
            <a:endParaRPr lang="en-US" sz="1100" dirty="0"/>
          </a:p>
        </p:txBody>
      </p:sp>
      <p:sp>
        <p:nvSpPr>
          <p:cNvPr id="28" name="Shape 26"/>
          <p:cNvSpPr/>
          <p:nvPr/>
        </p:nvSpPr>
        <p:spPr>
          <a:xfrm>
            <a:off x="4846320" y="3017520"/>
            <a:ext cx="4114800" cy="804672"/>
          </a:xfrm>
          <a:prstGeom prst="roundRect">
            <a:avLst>
              <a:gd name="adj" fmla="val 9091"/>
            </a:avLst>
          </a:prstGeom>
          <a:solidFill>
            <a:srgbClr val="F8FF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9" name="Text 27"/>
          <p:cNvSpPr/>
          <p:nvPr/>
        </p:nvSpPr>
        <p:spPr>
          <a:xfrm>
            <a:off x="4937760" y="320040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5394960" y="3090672"/>
            <a:ext cx="3383280" cy="329184"/>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07_Video</a:t>
            </a:r>
            <a:endParaRPr lang="en-US" sz="1200" dirty="0"/>
          </a:p>
        </p:txBody>
      </p:sp>
      <p:sp>
        <p:nvSpPr>
          <p:cNvPr id="31" name="Text 29"/>
          <p:cNvSpPr/>
          <p:nvPr/>
        </p:nvSpPr>
        <p:spPr>
          <a:xfrm>
            <a:off x="5394960" y="3419856"/>
            <a:ext cx="338328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Project Demo Video</a:t>
            </a:r>
            <a:endParaRPr lang="en-US" sz="1100" dirty="0"/>
          </a:p>
        </p:txBody>
      </p:sp>
      <p:sp>
        <p:nvSpPr>
          <p:cNvPr id="32" name="Text 30"/>
          <p:cNvSpPr/>
          <p:nvPr/>
        </p:nvSpPr>
        <p:spPr>
          <a:xfrm>
            <a:off x="4846320" y="3977640"/>
            <a:ext cx="4114800" cy="347472"/>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Tech Stack</a:t>
            </a:r>
            <a:endParaRPr lang="en-US" sz="1300" dirty="0"/>
          </a:p>
        </p:txBody>
      </p:sp>
      <p:sp>
        <p:nvSpPr>
          <p:cNvPr id="33" name="Text 31"/>
          <p:cNvSpPr/>
          <p:nvPr/>
        </p:nvSpPr>
        <p:spPr>
          <a:xfrm>
            <a:off x="4846320" y="4343400"/>
            <a:ext cx="4114800" cy="256032"/>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Python  •  Pandas  •  SQLite</a:t>
            </a:r>
            <a:endParaRPr lang="en-US" sz="1200" dirty="0"/>
          </a:p>
        </p:txBody>
      </p:sp>
      <p:sp>
        <p:nvSpPr>
          <p:cNvPr id="34" name="Text 32"/>
          <p:cNvSpPr/>
          <p:nvPr/>
        </p:nvSpPr>
        <p:spPr>
          <a:xfrm>
            <a:off x="4846320" y="4636008"/>
            <a:ext cx="4114800" cy="256032"/>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Tableau Public  •  Flask</a:t>
            </a:r>
            <a:endParaRPr lang="en-US" sz="1200" dirty="0"/>
          </a:p>
        </p:txBody>
      </p:sp>
      <p:sp>
        <p:nvSpPr>
          <p:cNvPr id="35" name="Text 33"/>
          <p:cNvSpPr/>
          <p:nvPr/>
        </p:nvSpPr>
        <p:spPr>
          <a:xfrm>
            <a:off x="4846320" y="4928616"/>
            <a:ext cx="4114800" cy="256032"/>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HTML  •  CSS  •  GitHub</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0D9488">
              <a:alpha val="15000"/>
            </a:srgbClr>
          </a:solidFill>
          <a:ln w="12700">
            <a:solidFill>
              <a:srgbClr val="0D9488">
                <a:alpha val="15000"/>
              </a:srgbClr>
            </a:solidFill>
            <a:prstDash val="solid"/>
          </a:ln>
        </p:spPr>
      </p:sp>
      <p:sp>
        <p:nvSpPr>
          <p:cNvPr id="3" name="Shape 1"/>
          <p:cNvSpPr/>
          <p:nvPr/>
        </p:nvSpPr>
        <p:spPr>
          <a:xfrm>
            <a:off x="-914400" y="3200400"/>
            <a:ext cx="3657600" cy="3657600"/>
          </a:xfrm>
          <a:prstGeom prst="ellipse">
            <a:avLst/>
          </a:prstGeom>
          <a:solidFill>
            <a:srgbClr val="14B8A6">
              <a:alpha val="12000"/>
            </a:srgbClr>
          </a:solidFill>
          <a:ln w="12700">
            <a:solidFill>
              <a:srgbClr val="14B8A6">
                <a:alpha val="12000"/>
              </a:srgbClr>
            </a:solidFill>
            <a:prstDash val="solid"/>
          </a:ln>
        </p:spPr>
      </p:sp>
      <p:sp>
        <p:nvSpPr>
          <p:cNvPr id="4" name="Text 2"/>
          <p:cNvSpPr/>
          <p:nvPr/>
        </p:nvSpPr>
        <p:spPr>
          <a:xfrm>
            <a:off x="457200" y="365760"/>
            <a:ext cx="8229600" cy="68580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5" name="Text 3"/>
          <p:cNvSpPr/>
          <p:nvPr/>
        </p:nvSpPr>
        <p:spPr>
          <a:xfrm>
            <a:off x="457200" y="1097280"/>
            <a:ext cx="8229600" cy="411480"/>
          </a:xfrm>
          <a:prstGeom prst="rect">
            <a:avLst/>
          </a:prstGeom>
          <a:noFill/>
          <a:ln/>
        </p:spPr>
        <p:txBody>
          <a:bodyPr wrap="square" lIns="0" tIns="0" rIns="0" bIns="0" rtlCol="0" anchor="ctr"/>
          <a:lstStyle/>
          <a:p>
            <a:pPr indent="0" marL="0">
              <a:buNone/>
            </a:pPr>
            <a:r>
              <a:rPr lang="en-US" sz="1500" dirty="0">
                <a:solidFill>
                  <a:srgbClr val="14B8A6"/>
                </a:solidFill>
                <a:latin typeface="Calibri" pitchFamily="34" charset="0"/>
                <a:ea typeface="Calibri" pitchFamily="34" charset="-122"/>
                <a:cs typeface="Calibri" pitchFamily="34" charset="-120"/>
              </a:rPr>
              <a:t>We successfully built a complete EV Analytics platform that:</a:t>
            </a:r>
            <a:endParaRPr lang="en-US" sz="1500" dirty="0"/>
          </a:p>
        </p:txBody>
      </p:sp>
      <p:sp>
        <p:nvSpPr>
          <p:cNvPr id="6" name="Shape 4"/>
          <p:cNvSpPr/>
          <p:nvPr/>
        </p:nvSpPr>
        <p:spPr>
          <a:xfrm>
            <a:off x="457200" y="1645920"/>
            <a:ext cx="310896" cy="310896"/>
          </a:xfrm>
          <a:prstGeom prst="ellipse">
            <a:avLst/>
          </a:prstGeom>
          <a:solidFill>
            <a:srgbClr val="0D9488"/>
          </a:solidFill>
          <a:ln w="12700">
            <a:solidFill>
              <a:srgbClr val="0D9488"/>
            </a:solidFill>
            <a:prstDash val="solid"/>
          </a:ln>
        </p:spPr>
      </p:sp>
      <p:sp>
        <p:nvSpPr>
          <p:cNvPr id="7" name="Text 5"/>
          <p:cNvSpPr/>
          <p:nvPr/>
        </p:nvSpPr>
        <p:spPr>
          <a:xfrm>
            <a:off x="457200" y="16459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8" name="Text 6"/>
          <p:cNvSpPr/>
          <p:nvPr/>
        </p:nvSpPr>
        <p:spPr>
          <a:xfrm>
            <a:off x="868680" y="1664208"/>
            <a:ext cx="786384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Collects &amp; cleans real EV data from 4 datasets</a:t>
            </a:r>
            <a:endParaRPr lang="en-US" sz="1400" dirty="0"/>
          </a:p>
        </p:txBody>
      </p:sp>
      <p:sp>
        <p:nvSpPr>
          <p:cNvPr id="9" name="Shape 7"/>
          <p:cNvSpPr/>
          <p:nvPr/>
        </p:nvSpPr>
        <p:spPr>
          <a:xfrm>
            <a:off x="457200" y="2240280"/>
            <a:ext cx="310896" cy="310896"/>
          </a:xfrm>
          <a:prstGeom prst="ellipse">
            <a:avLst/>
          </a:prstGeom>
          <a:solidFill>
            <a:srgbClr val="0D9488"/>
          </a:solidFill>
          <a:ln w="12700">
            <a:solidFill>
              <a:srgbClr val="0D9488"/>
            </a:solidFill>
            <a:prstDash val="solid"/>
          </a:ln>
        </p:spPr>
      </p:sp>
      <p:sp>
        <p:nvSpPr>
          <p:cNvPr id="10" name="Text 8"/>
          <p:cNvSpPr/>
          <p:nvPr/>
        </p:nvSpPr>
        <p:spPr>
          <a:xfrm>
            <a:off x="457200" y="22402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1" name="Text 9"/>
          <p:cNvSpPr/>
          <p:nvPr/>
        </p:nvSpPr>
        <p:spPr>
          <a:xfrm>
            <a:off x="868680" y="2258568"/>
            <a:ext cx="786384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Stores 1,03,665 rows in a structured SQLite database</a:t>
            </a:r>
            <a:endParaRPr lang="en-US" sz="1400" dirty="0"/>
          </a:p>
        </p:txBody>
      </p:sp>
      <p:sp>
        <p:nvSpPr>
          <p:cNvPr id="12" name="Shape 10"/>
          <p:cNvSpPr/>
          <p:nvPr/>
        </p:nvSpPr>
        <p:spPr>
          <a:xfrm>
            <a:off x="457200" y="2834640"/>
            <a:ext cx="310896" cy="310896"/>
          </a:xfrm>
          <a:prstGeom prst="ellipse">
            <a:avLst/>
          </a:prstGeom>
          <a:solidFill>
            <a:srgbClr val="0D9488"/>
          </a:solidFill>
          <a:ln w="12700">
            <a:solidFill>
              <a:srgbClr val="0D9488"/>
            </a:solidFill>
            <a:prstDash val="solid"/>
          </a:ln>
        </p:spPr>
      </p:sp>
      <p:sp>
        <p:nvSpPr>
          <p:cNvPr id="13" name="Text 11"/>
          <p:cNvSpPr/>
          <p:nvPr/>
        </p:nvSpPr>
        <p:spPr>
          <a:xfrm>
            <a:off x="457200" y="2834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4" name="Text 12"/>
          <p:cNvSpPr/>
          <p:nvPr/>
        </p:nvSpPr>
        <p:spPr>
          <a:xfrm>
            <a:off x="868680" y="2852928"/>
            <a:ext cx="786384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Visualizes insights through 18 charts across 2 Tableau dashboards</a:t>
            </a:r>
            <a:endParaRPr lang="en-US" sz="1400" dirty="0"/>
          </a:p>
        </p:txBody>
      </p:sp>
      <p:sp>
        <p:nvSpPr>
          <p:cNvPr id="15" name="Shape 13"/>
          <p:cNvSpPr/>
          <p:nvPr/>
        </p:nvSpPr>
        <p:spPr>
          <a:xfrm>
            <a:off x="457200" y="3429000"/>
            <a:ext cx="310896" cy="310896"/>
          </a:xfrm>
          <a:prstGeom prst="ellipse">
            <a:avLst/>
          </a:prstGeom>
          <a:solidFill>
            <a:srgbClr val="0D9488"/>
          </a:solidFill>
          <a:ln w="12700">
            <a:solidFill>
              <a:srgbClr val="0D9488"/>
            </a:solidFill>
            <a:prstDash val="solid"/>
          </a:ln>
        </p:spPr>
      </p:sp>
      <p:sp>
        <p:nvSpPr>
          <p:cNvPr id="16" name="Text 14"/>
          <p:cNvSpPr/>
          <p:nvPr/>
        </p:nvSpPr>
        <p:spPr>
          <a:xfrm>
            <a:off x="457200" y="34290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7" name="Text 15"/>
          <p:cNvSpPr/>
          <p:nvPr/>
        </p:nvSpPr>
        <p:spPr>
          <a:xfrm>
            <a:off x="868680" y="3447288"/>
            <a:ext cx="786384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Tells a guided story of EV trends in India (4 scenes)</a:t>
            </a:r>
            <a:endParaRPr lang="en-US" sz="1400" dirty="0"/>
          </a:p>
        </p:txBody>
      </p:sp>
      <p:sp>
        <p:nvSpPr>
          <p:cNvPr id="18" name="Shape 16"/>
          <p:cNvSpPr/>
          <p:nvPr/>
        </p:nvSpPr>
        <p:spPr>
          <a:xfrm>
            <a:off x="457200" y="4023360"/>
            <a:ext cx="310896" cy="310896"/>
          </a:xfrm>
          <a:prstGeom prst="ellipse">
            <a:avLst/>
          </a:prstGeom>
          <a:solidFill>
            <a:srgbClr val="0D9488"/>
          </a:solidFill>
          <a:ln w="12700">
            <a:solidFill>
              <a:srgbClr val="0D9488"/>
            </a:solidFill>
            <a:prstDash val="solid"/>
          </a:ln>
        </p:spPr>
      </p:sp>
      <p:sp>
        <p:nvSpPr>
          <p:cNvPr id="19" name="Text 17"/>
          <p:cNvSpPr/>
          <p:nvPr/>
        </p:nvSpPr>
        <p:spPr>
          <a:xfrm>
            <a:off x="457200" y="40233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0" name="Text 18"/>
          <p:cNvSpPr/>
          <p:nvPr/>
        </p:nvSpPr>
        <p:spPr>
          <a:xfrm>
            <a:off x="868680" y="4041648"/>
            <a:ext cx="786384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Makes everything accessible through a custom Flask website (E-CarStart)</a:t>
            </a:r>
            <a:endParaRPr lang="en-US" sz="1400" dirty="0"/>
          </a:p>
        </p:txBody>
      </p:sp>
      <p:sp>
        <p:nvSpPr>
          <p:cNvPr id="21" name="Shape 19"/>
          <p:cNvSpPr/>
          <p:nvPr/>
        </p:nvSpPr>
        <p:spPr>
          <a:xfrm>
            <a:off x="457200" y="4617720"/>
            <a:ext cx="8229600" cy="438912"/>
          </a:xfrm>
          <a:prstGeom prst="roundRect">
            <a:avLst>
              <a:gd name="adj" fmla="val 20833"/>
            </a:avLst>
          </a:prstGeom>
          <a:solidFill>
            <a:srgbClr val="0D9488"/>
          </a:solidFill>
          <a:ln w="12700">
            <a:solidFill>
              <a:srgbClr val="0D9488"/>
            </a:solidFill>
            <a:prstDash val="solid"/>
          </a:ln>
        </p:spPr>
      </p:sp>
      <p:sp>
        <p:nvSpPr>
          <p:cNvPr id="22" name="Text 20"/>
          <p:cNvSpPr/>
          <p:nvPr/>
        </p:nvSpPr>
        <p:spPr>
          <a:xfrm>
            <a:off x="457200" y="4617720"/>
            <a:ext cx="822960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Team SWTID-2026-6056  |  EV Analytics using Tableau &amp; Flask  |  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 Analytics using Tableau &amp; Flask</dc:title>
  <dc:subject>PptxGenJS Presentation</dc:subject>
  <dc:creator>PptxGenJS</dc:creator>
  <cp:lastModifiedBy>PptxGenJS</cp:lastModifiedBy>
  <cp:revision>1</cp:revision>
  <dcterms:created xsi:type="dcterms:W3CDTF">2026-07-03T10:31:05Z</dcterms:created>
  <dcterms:modified xsi:type="dcterms:W3CDTF">2026-07-03T10:31:05Z</dcterms:modified>
</cp:coreProperties>
</file>